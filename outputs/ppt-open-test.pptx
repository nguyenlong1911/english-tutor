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72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" name="Google Shape;3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FDEBC0">
              <a:alpha val="80000"/>
            </a:srgbClr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731520" y="3474720"/>
            <a:ext cx="2560320" cy="2560320"/>
          </a:xfrm>
          <a:prstGeom prst="ellipse">
            <a:avLst/>
          </a:prstGeom>
          <a:solidFill>
            <a:srgbClr val="F5A623">
              <a:alpha val="30196"/>
            </a:srgbClr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57200" y="34747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57200" y="34747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VẤN ĐỀ CỐT LÕI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749808"/>
            <a:ext cx="51206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Học mãi, mà vẫn phải</a:t>
            </a:r>
            <a:br>
              <a:rPr lang="en-US" sz="28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2800" b="1" i="0" u="none" strike="noStrike" cap="none">
                <a:solidFill>
                  <a:srgbClr val="C07A00"/>
                </a:solidFill>
                <a:latin typeface="Georgia"/>
                <a:ea typeface="Georgia"/>
                <a:cs typeface="Georgia"/>
                <a:sym typeface="Georgia"/>
              </a:rPr>
              <a:t>bắt đầu lại từ đầu.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1874520"/>
            <a:ext cx="502920" cy="59436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457200" y="2011680"/>
            <a:ext cx="49377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Người học không thiếu video, bài tập hay chatbot.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Điều họ thiếu là một hệ thống thật sự nhớ họ đã học gì, sai gì, và cần ôn lại khi nào.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2907792"/>
            <a:ext cx="4937760" cy="47548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566928" y="2907792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005840" y="2907792"/>
            <a:ext cx="4297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Học hôm nay — vài ngày sau quên hoàn toàn.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57200" y="3474720"/>
            <a:ext cx="4937760" cy="47548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566928" y="3474720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1005840" y="3474720"/>
            <a:ext cx="4297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Sai cùng một lỗi nhiều lần vì không được nhắc đúng lúc.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457200" y="4041648"/>
            <a:ext cx="4937760" cy="47548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566928" y="4041648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🧩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005840" y="4041648"/>
            <a:ext cx="4297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Dùng rất nhiều công cụ, tiến bộ vẫn không đến.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5806440" y="777240"/>
            <a:ext cx="2926080" cy="3840480"/>
          </a:xfrm>
          <a:prstGeom prst="rect">
            <a:avLst/>
          </a:prstGeom>
          <a:solidFill>
            <a:srgbClr val="FEF6E0"/>
          </a:solidFill>
          <a:ln w="1905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5806440" y="777240"/>
            <a:ext cx="64008" cy="3840480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5989320" y="1143000"/>
            <a:ext cx="26060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Georgia"/>
              <a:buNone/>
            </a:pPr>
            <a:r>
              <a:rPr lang="en-US" sz="1200" b="0" i="1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"Vấn đề không nằm ở chỗ người học không cố gắng.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Georgia"/>
              <a:buNone/>
            </a:pPr>
            <a:r>
              <a:rPr lang="en-US" sz="1200" b="0" i="1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Vấn đề là trải nghiệm học hiện tại không tích lũy được trí nhớ dài hạn."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5989320" y="292608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— Presenter Note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1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7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3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89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2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61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24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2" grpId="0"/>
      <p:bldP spid="24" grpId="0"/>
      <p:bldP spid="25" grpId="0"/>
      <p:bldP spid="27" grpId="0"/>
      <p:bldP spid="28" grpId="0"/>
      <p:bldP spid="30" grpId="0"/>
      <p:bldP spid="31" grpId="0"/>
      <p:bldP spid="34" grpId="0"/>
      <p:bldP spid="3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208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5A623">
              <a:alpha val="12156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FDEBC0">
              <a:alpha val="10196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57200" y="34747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2156"/>
            </a:srgbClr>
          </a:solidFill>
          <a:ln w="12700" cap="flat" cmpd="sng">
            <a:solidFill>
              <a:srgbClr val="F5D9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57200" y="3474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D98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5D98E"/>
                </a:solidFill>
                <a:latin typeface="Calibri"/>
                <a:ea typeface="Calibri"/>
                <a:cs typeface="Calibri"/>
                <a:sym typeface="Calibri"/>
              </a:rPr>
              <a:t>AI ĐANG ĐAU?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57200" y="749808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FFE899"/>
                </a:solidFill>
                <a:latin typeface="Georgia"/>
                <a:ea typeface="Georgia"/>
                <a:cs typeface="Georgia"/>
                <a:sym typeface="Georgia"/>
              </a:rPr>
              <a:t>Học ở chỗ này, ôn ở chỗ khác,</a:t>
            </a:r>
            <a:br>
              <a:rPr lang="en-US" sz="3000" b="1" i="0" u="none" strike="noStrike" cap="none">
                <a:solidFill>
                  <a:srgbClr val="FFE899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3000" b="1" i="0" u="none" strike="noStrike" cap="none">
                <a:solidFill>
                  <a:srgbClr val="F5A623"/>
                </a:solidFill>
                <a:latin typeface="Georgia"/>
                <a:ea typeface="Georgia"/>
                <a:cs typeface="Georgia"/>
                <a:sym typeface="Georgia"/>
              </a:rPr>
              <a:t>tra lỗi ở chỗ khác nữa.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57200" y="1938528"/>
            <a:ext cx="502920" cy="54864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457200" y="208483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B87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C9B87A"/>
                </a:solidFill>
                <a:latin typeface="Calibri"/>
                <a:ea typeface="Calibri"/>
                <a:cs typeface="Calibri"/>
                <a:sym typeface="Calibri"/>
              </a:rPr>
              <a:t>AI BỊ ẢNH HƯỞNG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57200" y="2423160"/>
            <a:ext cx="3840480" cy="493776"/>
          </a:xfrm>
          <a:prstGeom prst="rect">
            <a:avLst/>
          </a:prstGeom>
          <a:solidFill>
            <a:srgbClr val="F5A623">
              <a:alpha val="14901"/>
            </a:srgbClr>
          </a:solidFill>
          <a:ln w="12700" cap="flat" cmpd="sng">
            <a:solidFill>
              <a:srgbClr val="F5A623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566928" y="2423160"/>
            <a:ext cx="3657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🎓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005840" y="242316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Sinh viên sắp đi làm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57200" y="3017520"/>
            <a:ext cx="3840480" cy="493776"/>
          </a:xfrm>
          <a:prstGeom prst="rect">
            <a:avLst/>
          </a:prstGeom>
          <a:solidFill>
            <a:srgbClr val="F5A623">
              <a:alpha val="14901"/>
            </a:srgbClr>
          </a:solidFill>
          <a:ln w="12700" cap="flat" cmpd="sng">
            <a:solidFill>
              <a:srgbClr val="F5A623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566928" y="3017520"/>
            <a:ext cx="3657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💼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005840" y="301752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Người đi làm cần tiếng Anh hàng ngày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57200" y="3611880"/>
            <a:ext cx="3840480" cy="493776"/>
          </a:xfrm>
          <a:prstGeom prst="rect">
            <a:avLst/>
          </a:prstGeom>
          <a:solidFill>
            <a:srgbClr val="F5A623">
              <a:alpha val="14901"/>
            </a:srgbClr>
          </a:solidFill>
          <a:ln w="12700" cap="flat" cmpd="sng">
            <a:solidFill>
              <a:srgbClr val="F5A623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566928" y="3611880"/>
            <a:ext cx="3657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😓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1005840" y="361188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Người học lâu năm vẫn thiếu phản xạ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754880" y="208483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B87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C9B87A"/>
                </a:solidFill>
                <a:latin typeface="Calibri"/>
                <a:ea typeface="Calibri"/>
                <a:cs typeface="Calibri"/>
                <a:sym typeface="Calibri"/>
              </a:rPr>
              <a:t>HẬU QUẢ THỰC TẾ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4754880" y="2423160"/>
            <a:ext cx="3840480" cy="493776"/>
          </a:xfrm>
          <a:prstGeom prst="rect">
            <a:avLst/>
          </a:prstGeom>
          <a:solidFill>
            <a:srgbClr val="E84B2A">
              <a:alpha val="12156"/>
            </a:srgbClr>
          </a:solidFill>
          <a:ln w="12700" cap="flat" cmpd="sng">
            <a:solidFill>
              <a:srgbClr val="E84B2A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4864608" y="2423160"/>
            <a:ext cx="3657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5303520" y="242316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Kiến thức không nối tiếp thành kỹ năng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4754880" y="3017520"/>
            <a:ext cx="3840480" cy="493776"/>
          </a:xfrm>
          <a:prstGeom prst="rect">
            <a:avLst/>
          </a:prstGeom>
          <a:solidFill>
            <a:srgbClr val="E84B2A">
              <a:alpha val="12156"/>
            </a:srgbClr>
          </a:solidFill>
          <a:ln w="12700" cap="flat" cmpd="sng">
            <a:solidFill>
              <a:srgbClr val="E84B2A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4864608" y="3017520"/>
            <a:ext cx="3657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303520" y="301752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Lỗi cũ cứ lặp lại mãi không hết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754880" y="3611880"/>
            <a:ext cx="3840480" cy="493776"/>
          </a:xfrm>
          <a:prstGeom prst="rect">
            <a:avLst/>
          </a:prstGeom>
          <a:solidFill>
            <a:srgbClr val="E84B2A">
              <a:alpha val="12156"/>
            </a:srgbClr>
          </a:solidFill>
          <a:ln w="12700" cap="flat" cmpd="sng">
            <a:solidFill>
              <a:srgbClr val="E84B2A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4864608" y="3611880"/>
            <a:ext cx="3657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⏳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5303520" y="361188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Học nhiều giờ hơn, kết quả không tương xứng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57200" y="4315968"/>
            <a:ext cx="8138160" cy="594360"/>
          </a:xfrm>
          <a:prstGeom prst="rect">
            <a:avLst/>
          </a:prstGeom>
          <a:solidFill>
            <a:srgbClr val="F5A623">
              <a:alpha val="12156"/>
            </a:srgbClr>
          </a:solidFill>
          <a:ln w="12700" cap="flat" cmpd="sng">
            <a:solidFill>
              <a:srgbClr val="F5D98E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57200" y="4315968"/>
            <a:ext cx="54864" cy="594360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640080" y="4315968"/>
            <a:ext cx="79095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150"/>
              <a:buFont typeface="Georgia"/>
              <a:buNone/>
            </a:pPr>
            <a:r>
              <a:rPr lang="en-US" sz="1150" b="0" i="1" u="none" strike="noStrike" cap="none">
                <a:solidFill>
                  <a:srgbClr val="FFE899"/>
                </a:solidFill>
                <a:latin typeface="Georgia"/>
                <a:ea typeface="Georgia"/>
                <a:cs typeface="Georgia"/>
                <a:sym typeface="Georgia"/>
              </a:rPr>
              <a:t>"Hôm qua viết sai một câu email. Hôm nay hệ thống không nhớ gì — và câu đó lại bị sai thêm một lần nữa."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9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8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8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6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7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8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48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8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9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8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1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48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8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79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8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1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8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41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8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72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8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3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8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34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8" grpId="0"/>
      <p:bldP spid="50" grpId="0"/>
      <p:bldP spid="51" grpId="0"/>
      <p:bldP spid="53" grpId="0"/>
      <p:bldP spid="54" grpId="0"/>
      <p:bldP spid="56" grpId="0"/>
      <p:bldP spid="57" grpId="0"/>
      <p:bldP spid="58" grpId="0"/>
      <p:bldP spid="60" grpId="0"/>
      <p:bldP spid="61" grpId="0"/>
      <p:bldP spid="63" grpId="0"/>
      <p:bldP spid="64" grpId="0"/>
      <p:bldP spid="66" grpId="0"/>
      <p:bldP spid="67" grpId="0"/>
      <p:bldP spid="7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E0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/>
          <p:nvPr/>
        </p:nvSpPr>
        <p:spPr>
          <a:xfrm>
            <a:off x="6400800" y="-1097280"/>
            <a:ext cx="4114800" cy="4114800"/>
          </a:xfrm>
          <a:prstGeom prst="ellipse">
            <a:avLst/>
          </a:prstGeom>
          <a:solidFill>
            <a:srgbClr val="FDEBC0">
              <a:alpha val="70196"/>
            </a:srgbClr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457200" y="347472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457200" y="34747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THỊ TRƯỜNG ĐANG THAY ĐỔI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57200" y="749808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800"/>
              <a:buFont typeface="Georgia"/>
              <a:buNone/>
            </a:pPr>
            <a:r>
              <a:rPr lang="en-US" sz="31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Không phải ai có nhiều bài học hơn sẽ thắng —</a:t>
            </a:r>
            <a:br>
              <a:rPr lang="en-US" sz="31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3100" b="1" i="0" u="none" strike="noStrike" cap="none">
                <a:solidFill>
                  <a:srgbClr val="C07A00"/>
                </a:solidFill>
                <a:latin typeface="Georgia"/>
                <a:ea typeface="Georgia"/>
                <a:cs typeface="Georgia"/>
                <a:sym typeface="Georgia"/>
              </a:rPr>
              <a:t>mà ai giúp người học tiến bộ đều hơn.</a:t>
            </a:r>
            <a:endParaRPr sz="3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57200" y="2029968"/>
            <a:ext cx="502920" cy="54864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457200" y="2212848"/>
            <a:ext cx="3931920" cy="256032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594360" y="235915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❌  Content First — Cách cũ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94360" y="2761488"/>
            <a:ext cx="3657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402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4020"/>
                </a:solidFill>
                <a:latin typeface="Calibri"/>
                <a:ea typeface="Calibri"/>
                <a:cs typeface="Calibri"/>
                <a:sym typeface="Calibri"/>
              </a:rPr>
              <a:t>Ai có nhiều video, bài tập, từ vựng hơn thì được chọn.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402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4020"/>
                </a:solidFill>
                <a:latin typeface="Calibri"/>
                <a:ea typeface="Calibri"/>
                <a:cs typeface="Calibri"/>
                <a:sym typeface="Calibri"/>
              </a:rPr>
              <a:t>Kết quả: biển nội dung khổng lồ, không có phương hướng.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402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4020"/>
                </a:solidFill>
                <a:latin typeface="Calibri"/>
                <a:ea typeface="Calibri"/>
                <a:cs typeface="Calibri"/>
                <a:sym typeface="Calibri"/>
              </a:rPr>
              <a:t>Người học bị mệt, không biết mình đang tiến bộ không.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754880" y="2212848"/>
            <a:ext cx="3931920" cy="2560320"/>
          </a:xfrm>
          <a:prstGeom prst="rect">
            <a:avLst/>
          </a:prstGeom>
          <a:solidFill>
            <a:srgbClr val="C07A00"/>
          </a:solidFill>
          <a:ln w="12700" cap="flat" cmpd="sng">
            <a:solidFill>
              <a:srgbClr val="C07A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4892040" y="235915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✅  Memory First — Cách mới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4892040" y="2761488"/>
            <a:ext cx="3657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Ai nhớ người học là ai, biết họ sai gì, và đưa đúng nội dung về đúng lúc.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Kết quả: người học tiến bộ đều và có thể đo lường được.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Mỗi phiên học nối tiếp phiên trước.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1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0" grpId="0"/>
      <p:bldP spid="83" grpId="0"/>
      <p:bldP spid="84" grpId="0"/>
      <p:bldP spid="86" grpId="0"/>
      <p:bldP spid="8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A623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/>
          <p:nvPr/>
        </p:nvSpPr>
        <p:spPr>
          <a:xfrm>
            <a:off x="-1097280" y="-1097280"/>
            <a:ext cx="4572000" cy="4572000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7772400" y="3200400"/>
            <a:ext cx="3200400" cy="3200400"/>
          </a:xfrm>
          <a:prstGeom prst="ellipse">
            <a:avLst/>
          </a:prstGeom>
          <a:solidFill>
            <a:srgbClr val="000000">
              <a:alpha val="7843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457200" y="347472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FFBF2"/>
          </a:solidFill>
          <a:ln w="12700" cap="flat" cmpd="sng">
            <a:solidFill>
              <a:srgbClr val="FFFB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457200" y="34747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GIẢI PHÁP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57200" y="713232"/>
            <a:ext cx="512064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000"/>
              <a:buFont typeface="Georgia"/>
              <a:buNone/>
            </a:pPr>
            <a:r>
              <a:rPr lang="en-US" sz="20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Một gia sư AI không chỉ trả lời —</a:t>
            </a:r>
            <a:endParaRPr sz="20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000"/>
              <a:buFont typeface="Georgia"/>
              <a:buNone/>
            </a:pPr>
            <a:r>
              <a:rPr lang="en-US" sz="20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mà </a:t>
            </a:r>
            <a:endParaRPr sz="20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000"/>
              <a:buFont typeface="Georgia"/>
              <a:buNone/>
            </a:pPr>
            <a:r>
              <a:rPr lang="en-US" sz="20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nhớ, theo dõi và dạy tiếp</a:t>
            </a:r>
            <a:endParaRPr sz="20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000"/>
              <a:buFont typeface="Georgia"/>
              <a:buNone/>
            </a:pPr>
            <a:r>
              <a:rPr lang="en-US" sz="20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từ đúng chỗ bạn đang vướng.</a:t>
            </a:r>
            <a:endParaRPr sz="20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57200" y="2487168"/>
            <a:ext cx="502920" cy="54864"/>
          </a:xfrm>
          <a:prstGeom prst="rect">
            <a:avLst/>
          </a:prstGeom>
          <a:solidFill>
            <a:srgbClr val="1C1208">
              <a:alpha val="60000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457200" y="2633472"/>
            <a:ext cx="51206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B28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B2800"/>
                </a:solidFill>
                <a:latin typeface="Calibri"/>
                <a:ea typeface="Calibri"/>
                <a:cs typeface="Calibri"/>
                <a:sym typeface="Calibri"/>
              </a:rPr>
              <a:t>Chúng tôi giúp người Việt học tiếng Anh đạt tiến bộ bền vững hơn bằng một gia sư AI nhớ mục tiêu, lỗi sai và lịch ôn của từng người — thay vì để họ tự ghép nhiều công cụ rời rạc.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57200" y="3547872"/>
            <a:ext cx="2423160" cy="13716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 cmpd="sng">
            <a:solidFill>
              <a:srgbClr val="000000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594360" y="363016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280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3B2800"/>
                </a:solidFill>
                <a:latin typeface="Calibri"/>
                <a:ea typeface="Calibri"/>
                <a:cs typeface="Calibri"/>
                <a:sym typeface="Calibri"/>
              </a:rPr>
              <a:t>CÁCH CŨ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594360" y="3913632"/>
            <a:ext cx="21488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B280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3B2800"/>
                </a:solidFill>
                <a:latin typeface="Calibri"/>
                <a:ea typeface="Calibri"/>
                <a:cs typeface="Calibri"/>
                <a:sym typeface="Calibri"/>
              </a:rPr>
              <a:t>Tự lưu note, tự tạo flashcard, tự nhớ lịch ôn. Nặng nề và rất dễ bỏ cuộc.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3063240" y="3547872"/>
            <a:ext cx="2423160" cy="1371600"/>
          </a:xfrm>
          <a:prstGeom prst="rect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3200400" y="363016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CÁCH MỚI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3200400" y="3913632"/>
            <a:ext cx="21488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Hệ thống tự ghi nhớ, tự nhắc lại và cá nhân hoá. Không cần nỗ lực thêm.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5943600" y="1371600"/>
            <a:ext cx="2743200" cy="2651760"/>
          </a:xfrm>
          <a:prstGeom prst="rect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5943600" y="1536192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✨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943600" y="208483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Aha Moment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6080760" y="2423160"/>
            <a:ext cx="246888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Georgia"/>
              <a:buNone/>
            </a:pP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Phát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hiện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lỗi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sai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lưu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lại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và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gợi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nhắc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ôn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tập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cho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từng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học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viên</a:t>
            </a:r>
            <a:r>
              <a:rPr lang="en-US" sz="1200" b="0" i="1" u="none" strike="noStrike" cap="none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6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98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2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3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2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7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2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  <p:bldP spid="98" grpId="0"/>
      <p:bldP spid="100" grpId="0"/>
      <p:bldP spid="102" grpId="0"/>
      <p:bldP spid="103" grpId="0"/>
      <p:bldP spid="105" grpId="0"/>
      <p:bldP spid="106" grpId="0"/>
      <p:bldP spid="108" grpId="0"/>
      <p:bldP spid="109" grpId="0"/>
      <p:bldP spid="1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2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FDEBC0">
              <a:alpha val="74901"/>
            </a:srgbClr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457200" y="347472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457200" y="34747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CÁCH SẢN PHẨM HOẠT ĐỘNG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57200" y="749808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800"/>
              <a:buFont typeface="Georgia"/>
              <a:buNone/>
            </a:pPr>
            <a:r>
              <a:rPr lang="en-US" sz="28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Một vòng học </a:t>
            </a:r>
            <a:r>
              <a:rPr lang="en-US" sz="2800" b="1" i="0" strike="noStrike" cap="none">
                <a:solidFill>
                  <a:srgbClr val="C07A00"/>
                </a:solidFill>
                <a:latin typeface="Georgia"/>
                <a:ea typeface="Georgia"/>
                <a:cs typeface="Georgia"/>
                <a:sym typeface="Georgia"/>
              </a:rPr>
              <a:t>khép kín</a:t>
            </a:r>
            <a:r>
              <a:rPr lang="en-US" sz="28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 —</a:t>
            </a:r>
            <a:endParaRPr sz="28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800"/>
              <a:buFont typeface="Georgia"/>
              <a:buNone/>
            </a:pPr>
            <a:r>
              <a:rPr lang="en-US" sz="28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học, thực hành, ghi nhớ, ôn lại.</a:t>
            </a:r>
            <a:endParaRPr sz="28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57200" y="1938528"/>
            <a:ext cx="502920" cy="54864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457200" y="2121408"/>
            <a:ext cx="402336" cy="402336"/>
          </a:xfrm>
          <a:prstGeom prst="ellipse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457200" y="212140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1005840" y="2103120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Chat trong ngữ cảnh thật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1005840" y="2359152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Viết email, hội thoại, thuyết trình — không phải trắc nghiệm cứng nhắc.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7"/>
          <p:cNvCxnSpPr/>
          <p:nvPr/>
        </p:nvCxnSpPr>
        <p:spPr>
          <a:xfrm>
            <a:off x="658368" y="2560320"/>
            <a:ext cx="0" cy="219456"/>
          </a:xfrm>
          <a:prstGeom prst="straightConnector1">
            <a:avLst/>
          </a:prstGeom>
          <a:noFill/>
          <a:ln w="19050" cap="flat" cmpd="sng">
            <a:solidFill>
              <a:srgbClr val="FDEBC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27" name="Google Shape;127;p7"/>
          <p:cNvSpPr/>
          <p:nvPr/>
        </p:nvSpPr>
        <p:spPr>
          <a:xfrm>
            <a:off x="457200" y="2706624"/>
            <a:ext cx="402336" cy="402336"/>
          </a:xfrm>
          <a:prstGeom prst="ellipse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457200" y="270662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1005840" y="2688336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Nhận diện lỗi &amp; mục tiêu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1005840" y="2944368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Hệ thống nhận ra lỗi, đánh giá mức độ và gắn với mục tiêu cá nhân.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7"/>
          <p:cNvCxnSpPr/>
          <p:nvPr/>
        </p:nvCxnSpPr>
        <p:spPr>
          <a:xfrm>
            <a:off x="658368" y="3145536"/>
            <a:ext cx="0" cy="219456"/>
          </a:xfrm>
          <a:prstGeom prst="straightConnector1">
            <a:avLst/>
          </a:prstGeom>
          <a:noFill/>
          <a:ln w="19050" cap="flat" cmpd="sng">
            <a:solidFill>
              <a:srgbClr val="FDEBC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2" name="Google Shape;132;p7"/>
          <p:cNvSpPr/>
          <p:nvPr/>
        </p:nvSpPr>
        <p:spPr>
          <a:xfrm>
            <a:off x="457200" y="3291840"/>
            <a:ext cx="402336" cy="402336"/>
          </a:xfrm>
          <a:prstGeom prst="ellipse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457200" y="329184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1005840" y="3273552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Lưu thành trí nhớ cá nhân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1005840" y="3529584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Không cần tự ghi chép — hệ thống tự lưu lại những gì quan trọng.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7"/>
          <p:cNvCxnSpPr/>
          <p:nvPr/>
        </p:nvCxnSpPr>
        <p:spPr>
          <a:xfrm>
            <a:off x="658368" y="3730752"/>
            <a:ext cx="0" cy="219456"/>
          </a:xfrm>
          <a:prstGeom prst="straightConnector1">
            <a:avLst/>
          </a:prstGeom>
          <a:noFill/>
          <a:ln w="19050" cap="flat" cmpd="sng">
            <a:solidFill>
              <a:srgbClr val="FDEBC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7" name="Google Shape;137;p7"/>
          <p:cNvSpPr/>
          <p:nvPr/>
        </p:nvSpPr>
        <p:spPr>
          <a:xfrm>
            <a:off x="457200" y="3877056"/>
            <a:ext cx="402336" cy="402336"/>
          </a:xfrm>
          <a:prstGeom prst="ellipse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457200" y="387705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F5A623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1005840" y="3858768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Bài ôn quay lại đúng lúc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005840" y="4114800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Kiến thức trở thành phản xạ tự nhiên qua ôn tập thông minh.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57200" y="4617720"/>
            <a:ext cx="8138160" cy="320040"/>
          </a:xfrm>
          <a:prstGeom prst="rect">
            <a:avLst/>
          </a:prstGeom>
          <a:solidFill>
            <a:srgbClr val="FEF6E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457200" y="4617720"/>
            <a:ext cx="54864" cy="320040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640080" y="4617720"/>
            <a:ext cx="79095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100"/>
              <a:buFont typeface="Georgia"/>
              <a:buNone/>
            </a:pPr>
            <a:r>
              <a:rPr lang="en-US" sz="1100" b="0" i="1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"Mỗi buổi học đều nối tiếp buổi trước — như có người thật đang theo dõi hành trình của bạn."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4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05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4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37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4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35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9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4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165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4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43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4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695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4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96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225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4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49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4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755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4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2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/>
      <p:bldP spid="120" grpId="0"/>
      <p:bldP spid="123" grpId="0"/>
      <p:bldP spid="124" grpId="0"/>
      <p:bldP spid="125" grpId="0"/>
      <p:bldP spid="128" grpId="0"/>
      <p:bldP spid="129" grpId="0"/>
      <p:bldP spid="130" grpId="0"/>
      <p:bldP spid="133" grpId="0"/>
      <p:bldP spid="134" grpId="0"/>
      <p:bldP spid="135" grpId="0"/>
      <p:bldP spid="138" grpId="0"/>
      <p:bldP spid="139" grpId="0"/>
      <p:bldP spid="140" grpId="0"/>
      <p:bldP spid="14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208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/>
          <p:nvPr/>
        </p:nvSpPr>
        <p:spPr>
          <a:xfrm>
            <a:off x="7772400" y="2926080"/>
            <a:ext cx="2926080" cy="2926080"/>
          </a:xfrm>
          <a:prstGeom prst="ellipse">
            <a:avLst/>
          </a:prstGeom>
          <a:solidFill>
            <a:srgbClr val="F5A623">
              <a:alpha val="10196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-731520" y="-731520"/>
            <a:ext cx="2560320" cy="2560320"/>
          </a:xfrm>
          <a:prstGeom prst="ellipse">
            <a:avLst/>
          </a:prstGeom>
          <a:solidFill>
            <a:srgbClr val="FDEBC0">
              <a:alpha val="7843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457200" y="347472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2156"/>
            </a:srgbClr>
          </a:solidFill>
          <a:ln w="12700" cap="flat" cmpd="sng">
            <a:solidFill>
              <a:srgbClr val="F5D9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457200" y="34747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D98E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5D98E"/>
                </a:solidFill>
                <a:latin typeface="Calibri"/>
                <a:ea typeface="Calibri"/>
                <a:cs typeface="Calibri"/>
                <a:sym typeface="Calibri"/>
              </a:rPr>
              <a:t>CÔNG NGHỆ ĐỨNG PHÍA SAU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57200" y="749808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FFE899"/>
                </a:solidFill>
                <a:latin typeface="Georgia"/>
                <a:ea typeface="Georgia"/>
                <a:cs typeface="Georgia"/>
                <a:sym typeface="Georgia"/>
              </a:rPr>
              <a:t>Ba lớp tạo nên một hệ thống học</a:t>
            </a:r>
            <a:br>
              <a:rPr lang="en-US" sz="3000" b="1" i="0" u="none" strike="noStrike" cap="none">
                <a:solidFill>
                  <a:srgbClr val="FFE899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3000" b="1" i="0" u="none" strike="noStrike" cap="none">
                <a:solidFill>
                  <a:srgbClr val="F5A623"/>
                </a:solidFill>
                <a:latin typeface="Georgia"/>
                <a:ea typeface="Georgia"/>
                <a:cs typeface="Georgia"/>
                <a:sym typeface="Georgia"/>
              </a:rPr>
              <a:t>có trí nhớ.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457200" y="1920240"/>
            <a:ext cx="502920" cy="54864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457200" y="2103120"/>
            <a:ext cx="8229600" cy="749808"/>
          </a:xfrm>
          <a:prstGeom prst="rect">
            <a:avLst/>
          </a:prstGeom>
          <a:solidFill>
            <a:srgbClr val="FFFFFF">
              <a:alpha val="7058"/>
            </a:srgbClr>
          </a:solidFill>
          <a:ln w="12700" cap="flat" cmpd="sng">
            <a:solidFill>
              <a:srgbClr val="F5A623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457200" y="2103120"/>
            <a:ext cx="54864" cy="749808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594360" y="2103120"/>
            <a:ext cx="54864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1234440" y="2157984"/>
            <a:ext cx="7223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AI Hội Thoại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1234440" y="2432304"/>
            <a:ext cx="7223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B8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9B87A"/>
                </a:solidFill>
                <a:latin typeface="Calibri"/>
                <a:ea typeface="Calibri"/>
                <a:cs typeface="Calibri"/>
                <a:sym typeface="Calibri"/>
              </a:rPr>
              <a:t>Người học luyện trong ngữ cảnh thật — không phải câu hỏi trắc nghiệm cứng nhắc. Phản hồi đúng trình độ, đúng mục tiêu.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57200" y="2990088"/>
            <a:ext cx="8229600" cy="749808"/>
          </a:xfrm>
          <a:prstGeom prst="rect">
            <a:avLst/>
          </a:prstGeom>
          <a:solidFill>
            <a:srgbClr val="FFFFFF">
              <a:alpha val="7058"/>
            </a:srgbClr>
          </a:solidFill>
          <a:ln w="12700" cap="flat" cmpd="sng">
            <a:solidFill>
              <a:srgbClr val="F5A623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457200" y="2990088"/>
            <a:ext cx="54864" cy="749808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594360" y="2990088"/>
            <a:ext cx="54864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1234440" y="3044952"/>
            <a:ext cx="7223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Bộ Nhớ Học Tập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1234440" y="3319272"/>
            <a:ext cx="7223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B8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9B87A"/>
                </a:solidFill>
                <a:latin typeface="Calibri"/>
                <a:ea typeface="Calibri"/>
                <a:cs typeface="Calibri"/>
                <a:sym typeface="Calibri"/>
              </a:rPr>
              <a:t>Hệ thống nhớ người học đã học gì, thường sai ở đâu — dài hạn và liên tục qua từng phiên học.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457200" y="3877056"/>
            <a:ext cx="8229600" cy="749808"/>
          </a:xfrm>
          <a:prstGeom prst="rect">
            <a:avLst/>
          </a:prstGeom>
          <a:solidFill>
            <a:srgbClr val="FFFFFF">
              <a:alpha val="7058"/>
            </a:srgbClr>
          </a:solidFill>
          <a:ln w="12700" cap="flat" cmpd="sng">
            <a:solidFill>
              <a:srgbClr val="F5A623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457200" y="3877056"/>
            <a:ext cx="54864" cy="749808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594360" y="3877056"/>
            <a:ext cx="54864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234440" y="3931920"/>
            <a:ext cx="7223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Cơ Chế Ôn Tập Thông Minh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234440" y="4206240"/>
            <a:ext cx="7223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B8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9B87A"/>
                </a:solidFill>
                <a:latin typeface="Calibri"/>
                <a:ea typeface="Calibri"/>
                <a:cs typeface="Calibri"/>
                <a:sym typeface="Calibri"/>
              </a:rPr>
              <a:t>Đưa đúng nội dung về đúng lúc. Không random, không cứng nhắc theo lịch — dựa trên dữ liệu cá nhân.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457200" y="4663440"/>
            <a:ext cx="8138160" cy="292608"/>
          </a:xfrm>
          <a:prstGeom prst="rect">
            <a:avLst/>
          </a:prstGeom>
          <a:solidFill>
            <a:srgbClr val="F5A623">
              <a:alpha val="12156"/>
            </a:srgbClr>
          </a:solidFill>
          <a:ln w="12700" cap="flat" cmpd="sng">
            <a:solidFill>
              <a:srgbClr val="F5D98E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594360" y="4663440"/>
            <a:ext cx="7955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050"/>
              <a:buFont typeface="Georgia"/>
              <a:buNone/>
            </a:pPr>
            <a:r>
              <a:rPr lang="en-US" sz="1050" b="0" i="1" u="none" strike="noStrike" cap="none">
                <a:solidFill>
                  <a:srgbClr val="FFE899"/>
                </a:solidFill>
                <a:latin typeface="Georgia"/>
                <a:ea typeface="Georgia"/>
                <a:cs typeface="Georgia"/>
                <a:sym typeface="Georgia"/>
              </a:rPr>
              <a:t>"Công nghệ không phải mục tiêu. Công nghệ chỉ là cách để biến việc học rời rạc thành một hệ thống học có trí nhớ."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8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55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8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7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8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85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8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415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8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3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8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45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8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6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8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675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/>
      <p:bldP spid="154" grpId="0"/>
      <p:bldP spid="158" grpId="0"/>
      <p:bldP spid="159" grpId="0"/>
      <p:bldP spid="160" grpId="0"/>
      <p:bldP spid="163" grpId="0"/>
      <p:bldP spid="164" grpId="0"/>
      <p:bldP spid="165" grpId="0"/>
      <p:bldP spid="168" grpId="0"/>
      <p:bldP spid="169" grpId="0"/>
      <p:bldP spid="170" grpId="0"/>
      <p:bldP spid="17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E0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FDEBC0">
              <a:alpha val="65098"/>
            </a:srgbClr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457200" y="347472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457200" y="34747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KẾT QUẢ KỲ VỌNG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457200" y="749808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Ít phân mảnh. Nhớ lâu hơn.</a:t>
            </a:r>
            <a:br>
              <a:rPr lang="en-US" sz="30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3000" b="1" i="0" u="none" strike="noStrike" cap="none">
                <a:solidFill>
                  <a:srgbClr val="C07A00"/>
                </a:solidFill>
                <a:latin typeface="Georgia"/>
                <a:ea typeface="Georgia"/>
                <a:cs typeface="Georgia"/>
                <a:sym typeface="Georgia"/>
              </a:rPr>
              <a:t>Tiến bộ đều hơn.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57200" y="1938528"/>
            <a:ext cx="502920" cy="54864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457200" y="210312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VỚI NGƯỜI HỌC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457200" y="2441448"/>
            <a:ext cx="3931920" cy="56692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566928" y="244144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😌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1051560" y="2441448"/>
            <a:ext cx="3246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Giảm cảm giác học mãi mà không lên.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457200" y="3127248"/>
            <a:ext cx="3931920" cy="56692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566928" y="312724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1051560" y="3127248"/>
            <a:ext cx="3246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Tăng khả năng nhớ và dùng trong tình huống thật.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57200" y="3813048"/>
            <a:ext cx="3931920" cy="56692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566928" y="381304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🗓️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1051560" y="3813048"/>
            <a:ext cx="3246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Lộ trình học liên tục, không phải phiên rời rạc.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4754880" y="210312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VỚI SẢN PHẨM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4754880" y="2441448"/>
            <a:ext cx="3931920" cy="56692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4864608" y="244144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5349240" y="2441448"/>
            <a:ext cx="3246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Tăng giữ chân vì người dùng thấy có tiếp nối.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4754880" y="3127248"/>
            <a:ext cx="3931920" cy="56692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4864608" y="312724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🏆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5349240" y="3127248"/>
            <a:ext cx="3246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Khác biệt rõ so với chatbot học tiếng Anh thường.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4754880" y="3813048"/>
            <a:ext cx="3931920" cy="56692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4864608" y="381304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5349240" y="3813048"/>
            <a:ext cx="3246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Mở đường cho premium: coaching theo nghề nghiệp.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57200" y="4617720"/>
            <a:ext cx="8138160" cy="3474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457200" y="4617720"/>
            <a:ext cx="54864" cy="347472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640080" y="4617720"/>
            <a:ext cx="79095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150"/>
              <a:buFont typeface="Georgia"/>
              <a:buNone/>
            </a:pPr>
            <a:r>
              <a:rPr lang="en-US" sz="1150" b="0" i="1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"Chúng tôi không chỉ xây một app học tiếng Anh. Chúng tôi đang xây một hệ thống học tập biết nhớ."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7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6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3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6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2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6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1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6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4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6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69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6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98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7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6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66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6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9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24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6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53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6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82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6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11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82" grpId="0"/>
      <p:bldP spid="184" grpId="0"/>
      <p:bldP spid="186" grpId="0"/>
      <p:bldP spid="187" grpId="0"/>
      <p:bldP spid="189" grpId="0"/>
      <p:bldP spid="190" grpId="0"/>
      <p:bldP spid="192" grpId="0"/>
      <p:bldP spid="193" grpId="0"/>
      <p:bldP spid="194" grpId="0"/>
      <p:bldP spid="196" grpId="0"/>
      <p:bldP spid="197" grpId="0"/>
      <p:bldP spid="199" grpId="0"/>
      <p:bldP spid="200" grpId="0"/>
      <p:bldP spid="202" grpId="0"/>
      <p:bldP spid="203" grpId="0"/>
      <p:bldP spid="20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A623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/>
          <p:nvPr/>
        </p:nvSpPr>
        <p:spPr>
          <a:xfrm>
            <a:off x="6400800" y="-1371600"/>
            <a:ext cx="5029200" cy="5029200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00000">
              <a:alpha val="9019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2286000" y="292608"/>
            <a:ext cx="4572000" cy="274320"/>
          </a:xfrm>
          <a:prstGeom prst="roundRect">
            <a:avLst>
              <a:gd name="adj" fmla="val 50000"/>
            </a:avLst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2286000" y="29260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TỪ CHATBOT → GIA SƯ THẬT SỰ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457200" y="713232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800"/>
              <a:buFont typeface="Georgia"/>
              <a:buNone/>
            </a:pPr>
            <a:r>
              <a:rPr lang="en-US" sz="28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Thị trường thiếu một trải nghiệm học</a:t>
            </a:r>
            <a:br>
              <a:rPr lang="en-US" sz="28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28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có thể nhớ, theo dõi và dạy tiếp.</a:t>
            </a:r>
            <a:endParaRPr sz="28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4114800" y="1993392"/>
            <a:ext cx="914400" cy="54864"/>
          </a:xfrm>
          <a:prstGeom prst="rect">
            <a:avLst/>
          </a:prstGeom>
          <a:solidFill>
            <a:srgbClr val="1C1208">
              <a:alpha val="60000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914400" y="21031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B280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B2800"/>
                </a:solidFill>
                <a:latin typeface="Calibri"/>
                <a:ea typeface="Calibri"/>
                <a:cs typeface="Calibri"/>
                <a:sym typeface="Calibri"/>
              </a:rPr>
              <a:t>Đó là khoảng trống mà sản phẩm này đang nhắm tới.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457200" y="2670048"/>
            <a:ext cx="2651760" cy="1783080"/>
          </a:xfrm>
          <a:prstGeom prst="rect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594360" y="27889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PAIN THẬT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594360" y="3090672"/>
            <a:ext cx="237744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Bắt đầu từ một nỗi đau cụ thể mà hàng triệu người đang gặp mỗi ngày.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3355848" y="2670048"/>
            <a:ext cx="2651760" cy="1783080"/>
          </a:xfrm>
          <a:prstGeom prst="rect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3493008" y="27889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TRẢI NGHIỆM RÕ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3493008" y="3090672"/>
            <a:ext cx="237744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Giải bằng một vòng học đơn giản, dễ hiểu, không cần thêm nỗ lực.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6254496" y="2670048"/>
            <a:ext cx="2651760" cy="1783080"/>
          </a:xfrm>
          <a:prstGeom prst="rect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6391656" y="27889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KẾT QUẢ BỀN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6391656" y="3090672"/>
            <a:ext cx="237744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Dùng công nghệ để tạo ra tiến bộ học tập thật sự, không chỉ vui vẻ.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457200" y="4617720"/>
            <a:ext cx="8138160" cy="347472"/>
          </a:xfrm>
          <a:prstGeom prst="rect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457200" y="4617720"/>
            <a:ext cx="8138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50"/>
              <a:buFont typeface="Calibri"/>
              <a:buNone/>
            </a:pPr>
            <a:r>
              <a:rPr lang="en-US" sz="1500" b="0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English Tutor AI  ·  Pitch Deck  2025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8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6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4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8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42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" grpId="0"/>
      <p:bldP spid="217" grpId="0"/>
      <p:bldP spid="219" grpId="0"/>
      <p:bldP spid="221" grpId="0"/>
      <p:bldP spid="222" grpId="0"/>
      <p:bldP spid="224" grpId="0"/>
      <p:bldP spid="225" grpId="0"/>
      <p:bldP spid="227" grpId="0"/>
      <p:bldP spid="228" grpId="0"/>
      <p:bldP spid="23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1006</Words>
  <Application>Microsoft Office PowerPoint</Application>
  <PresentationFormat>On-screen Show (16:9)</PresentationFormat>
  <Paragraphs>128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quang nguyễn</cp:lastModifiedBy>
  <cp:revision>3</cp:revision>
  <dcterms:modified xsi:type="dcterms:W3CDTF">2026-05-16T16:33:05Z</dcterms:modified>
</cp:coreProperties>
</file>
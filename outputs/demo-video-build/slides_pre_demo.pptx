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DEBC0">
              <a:alpha val="80000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F5A623">
              <a:alpha val="30196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VẤN ĐỀ CỐT LÕI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49808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 mãi, mà vẫn phải</a:t>
            </a:r>
            <a:b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bắt đầu lại từ đầu.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502920" cy="5943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011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Người học không thiếu video, bài tập hay chatbot.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Điều họ thiếu là một hệ thống thật sự nhớ họ đã học gì, sai gì, và cần ôn lại khi nào.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907792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66928" y="29077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290779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Học hôm nay — vài ngày sau quên hoàn toàn.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74720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66928" y="34747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05840" y="3474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Sai cùng một lỗi nhiều lần vì không được nhắc đúng lúc.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041648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66928" y="404164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05840" y="404164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Dùng rất nhiều công cụ, tiến bộ vẫn không đến.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06440" y="777240"/>
            <a:ext cx="2926080" cy="3840480"/>
          </a:xfrm>
          <a:prstGeom prst="rect">
            <a:avLst/>
          </a:prstGeom>
          <a:solidFill>
            <a:srgbClr val="FEF6E0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806440" y="777240"/>
            <a:ext cx="64008" cy="384048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989320" y="1143000"/>
            <a:ext cx="2606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"Vấn đề không nằm ở chỗ người học không cố gắng.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Vấn đề là trải nghiệm học hiện tại không tích lũy được trí nhớ dài hạn."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— Presenter 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2750"/>
    </mc:Choice>
    <mc:Fallback>
      <p:transition advClick="0" advTm="22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1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4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4" grpId="0"/>
      <p:bldP spid="25" grpId="0"/>
      <p:bldP spid="27" grpId="0"/>
      <p:bldP spid="28" grpId="0"/>
      <p:bldP spid="30" grpId="0"/>
      <p:bldP spid="31" grpId="0"/>
      <p:bldP spid="34" grpId="0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DEBC0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474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AI ĐANG ĐAU?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Học ở chỗ này, ôn ở chỗ khác,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tra lỗi ở chỗ khác nữa.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AI BỊ ẢNH HƯỞNG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242316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6692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Sinh viên sắp đi làm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301752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6692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0584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đi làm cần tiếng Anh hàng ngày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61188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0584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học lâu năm vẫn thiếu phản xạ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HẬU QUẢ THỰC TẾ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242316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6460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Kiến thức không nối tiếp thành kỹ năng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301752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6460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Lỗi cũ cứ lặp lại mãi không hết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361188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6460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0352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Học nhiều giờ hơn, kết quả không tương xứng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315968"/>
            <a:ext cx="8138160" cy="594360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315968"/>
            <a:ext cx="54864" cy="59436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0080" y="4315968"/>
            <a:ext cx="7909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"Hôm qua viết sai một câu email. Hôm nay hệ thống không nhớ gì — và câu đó lại bị sai thêm một lần nữa."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2750"/>
    </mc:Choice>
    <mc:Fallback>
      <p:transition advClick="0" advTm="22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9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7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9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1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41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3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4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8" grpId="0"/>
      <p:bldP spid="50" grpId="0"/>
      <p:bldP spid="51" grpId="0"/>
      <p:bldP spid="53" grpId="0"/>
      <p:bldP spid="54" grpId="0"/>
      <p:bldP spid="56" grpId="0"/>
      <p:bldP spid="57" grpId="0"/>
      <p:bldP spid="58" grpId="0"/>
      <p:bldP spid="60" grpId="0"/>
      <p:bldP spid="61" grpId="0"/>
      <p:bldP spid="63" grpId="0"/>
      <p:bldP spid="64" grpId="0"/>
      <p:bldP spid="66" grpId="0"/>
      <p:bldP spid="67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DEBC0">
              <a:alpha val="70196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THỊ TRƯỜNG ĐANG THAY ĐỔI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74980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Không phải ai có nhiều bài học hơn sẽ thắng —</a:t>
            </a:r>
            <a:b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1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mà ai giúp người học tiến bộ đều hơn.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02996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212848"/>
            <a:ext cx="3931920" cy="2560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❌  Content First — Cách cũ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9436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Ai có nhiều video, bài tập, từ vựng hơn thì được chọn.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Kết quả: biển nội dung khổng lồ, không có phương hướng.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Người học bị mệt, không biết mình đang tiến bộ không.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2212848"/>
            <a:ext cx="3931920" cy="2560320"/>
          </a:xfrm>
          <a:prstGeom prst="rect">
            <a:avLst/>
          </a:prstGeom>
          <a:solidFill>
            <a:srgbClr val="C07A00"/>
          </a:solidFill>
          <a:ln w="12700" cap="flat" cmpd="sng">
            <a:solidFill>
              <a:srgbClr val="C07A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89204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✅  Memory First — Cách mới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Ai nhớ người học là ai, biết họ sai gì, và đưa đúng nội dung về đúng lúc.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Kết quả: người học tiến bộ đều và có thể đo lường được.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Mỗi phiên học nối tiếp phiên trước.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2750"/>
    </mc:Choice>
    <mc:Fallback>
      <p:transition advClick="0" advTm="22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1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3" grpId="0"/>
      <p:bldP spid="84" grpId="0"/>
      <p:bldP spid="86" grpId="0"/>
      <p:bldP spid="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00000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57200" y="3474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BF2"/>
          </a:solidFill>
          <a:ln w="12700" cap="flat" cmpd="sng">
            <a:solidFill>
              <a:srgbClr val="FFFB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3474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GIẢI PHÁP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713232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gia sư AI không chỉ trả lời —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mà 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nhớ, theo dõi và dạy tiếp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từ đúng chỗ bạn đang vướng.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2487168"/>
            <a:ext cx="50292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2633472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Chúng tôi giúp người Việt học tiếng Anh đạt tiến bộ bền vững hơn bằng một gia sư AI nhớ mục tiêu, lỗi sai và lịch ôn của từng người — thay vì để họ tự ghép nhiều công cụ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547872"/>
            <a:ext cx="2423160" cy="13716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 cmpd="sng">
            <a:solidFill>
              <a:srgbClr val="00000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CÁCH CŨ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Tự lưu note, tự tạo flashcard, tự nhớ lịch ôn. Nặng nề và rất dễ bỏ cuộc.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63240" y="3547872"/>
            <a:ext cx="2423160" cy="137160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20040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CÁCH MỚI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20040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Hệ thống tự ghi nhớ, tự nhắc lại và cá nhân hoá. Không cần nỗ lực thêm.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43600" y="1371600"/>
            <a:ext cx="2743200" cy="265176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943600" y="153619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43600" y="2084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Aha Moment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080760" y="24231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Georgia"/>
              <a:buNone/>
            </a:pP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Phát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hiện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lỗi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sai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lưu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lại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và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gợi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nhắc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ôn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tập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cho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từng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học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viên</a:t>
            </a:r>
            <a:r>
              <a:rPr lang="en-US" sz="1200" b="0" i="1" u="none" strike="noStrike" cap="none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6540"/>
    </mc:Choice>
    <mc:Fallback>
      <p:transition advClick="0" advTm="26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3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100" grpId="0"/>
      <p:bldP spid="102" grpId="0"/>
      <p:bldP spid="103" grpId="0"/>
      <p:bldP spid="105" grpId="0"/>
      <p:bldP spid="106" grpId="0"/>
      <p:bldP spid="108" grpId="0"/>
      <p:bldP spid="109" grpId="0"/>
      <p:bldP spid="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DEBC0">
              <a:alpha val="74901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3474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CÁCH SẢN PHẨM HOẠT ĐỘNG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vòng học </a:t>
            </a:r>
            <a:r>
              <a:rPr lang="en-US" sz="2800" b="1" i="0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khép kín</a:t>
            </a: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 —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học, thực hành, ghi nhớ, ôn lại.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2121408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210312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Chat trong ngữ cảnh thật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2359152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Viết email, hội thoại, thuyết trình — không phải trắc nghiệm cứng nhắc.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658368" y="2560320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7"/>
          <p:cNvSpPr/>
          <p:nvPr/>
        </p:nvSpPr>
        <p:spPr>
          <a:xfrm>
            <a:off x="457200" y="2706624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05840" y="268833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Nhận diện lỗi &amp; mục tiêu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29443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Hệ thống nhận ra lỗi, đánh giá mức độ và gắn với mục tiêu cá nhân.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658368" y="3145536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" name="Google Shape;132;p7"/>
          <p:cNvSpPr/>
          <p:nvPr/>
        </p:nvSpPr>
        <p:spPr>
          <a:xfrm>
            <a:off x="457200" y="3291840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32918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05840" y="32735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Lưu thành trí nhớ cá nhân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05840" y="3529584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Không cần tự ghi chép — hệ thống tự lưu lại những gì quan trọng.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658368" y="3730752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7" name="Google Shape;137;p7"/>
          <p:cNvSpPr/>
          <p:nvPr/>
        </p:nvSpPr>
        <p:spPr>
          <a:xfrm>
            <a:off x="457200" y="3877056"/>
            <a:ext cx="402336" cy="402336"/>
          </a:xfrm>
          <a:prstGeom prst="ellipse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57200" y="38770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38587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Bài ôn quay lại đúng lúc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4114800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Kiến thức trở thành phản xạ tự nhiên qua ôn tập thông minh.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4617720"/>
            <a:ext cx="8138160" cy="320040"/>
          </a:xfrm>
          <a:prstGeom prst="rect">
            <a:avLst/>
          </a:prstGeom>
          <a:solidFill>
            <a:srgbClr val="FEF6E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4617720"/>
            <a:ext cx="54864" cy="32004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" y="4617720"/>
            <a:ext cx="7909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"Mỗi buổi học đều nối tiếp buổi trước — như có người thật đang theo dõi hành trình của bạn."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49260"/>
    </mc:Choice>
    <mc:Fallback>
      <p:transition advClick="0" advTm="49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4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5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4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7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4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3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4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6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4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4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9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4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25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4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49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5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4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/>
      <p:bldP spid="123" grpId="0"/>
      <p:bldP spid="124" grpId="0"/>
      <p:bldP spid="125" grpId="0"/>
      <p:bldP spid="128" grpId="0"/>
      <p:bldP spid="129" grpId="0"/>
      <p:bldP spid="130" grpId="0"/>
      <p:bldP spid="133" grpId="0"/>
      <p:bldP spid="134" grpId="0"/>
      <p:bldP spid="135" grpId="0"/>
      <p:bldP spid="138" grpId="0"/>
      <p:bldP spid="139" grpId="0"/>
      <p:bldP spid="140" grpId="0"/>
      <p:bldP spid="1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641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4</cp:revision>
  <dcterms:modified xsi:type="dcterms:W3CDTF">2026-05-16T17:38:16Z</dcterms:modified>
</cp:coreProperties>
</file>
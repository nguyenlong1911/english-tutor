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5"/>
  </p:notesMasterIdLst>
  <p:sldIdLst>
    <p:sldId id="261" r:id="rId2"/>
    <p:sldId id="262" r:id="rId3"/>
    <p:sldId id="263" r:id="rId4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72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208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/>
          <p:nvPr/>
        </p:nvSpPr>
        <p:spPr>
          <a:xfrm>
            <a:off x="7772400" y="2926080"/>
            <a:ext cx="2926080" cy="2926080"/>
          </a:xfrm>
          <a:prstGeom prst="ellipse">
            <a:avLst/>
          </a:prstGeom>
          <a:solidFill>
            <a:srgbClr val="F5A623">
              <a:alpha val="10196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-731520" y="-731520"/>
            <a:ext cx="2560320" cy="2560320"/>
          </a:xfrm>
          <a:prstGeom prst="ellipse">
            <a:avLst/>
          </a:prstGeom>
          <a:solidFill>
            <a:srgbClr val="FDEBC0">
              <a:alpha val="7843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457200" y="347472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2156"/>
            </a:srgbClr>
          </a:solidFill>
          <a:ln w="12700" cap="flat" cmpd="sng">
            <a:solidFill>
              <a:srgbClr val="F5D9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457200" y="34747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D98E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5D98E"/>
                </a:solidFill>
                <a:latin typeface="Calibri"/>
                <a:ea typeface="Calibri"/>
                <a:cs typeface="Calibri"/>
                <a:sym typeface="Calibri"/>
              </a:rPr>
              <a:t>CÔNG NGHỆ ĐỨNG PHÍA SAU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57200" y="749808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FFE899"/>
                </a:solidFill>
                <a:latin typeface="Georgia"/>
                <a:ea typeface="Georgia"/>
                <a:cs typeface="Georgia"/>
                <a:sym typeface="Georgia"/>
              </a:rPr>
              <a:t>Ba lớp tạo nên một hệ thống học</a:t>
            </a:r>
            <a:br>
              <a:rPr lang="en-US" sz="3000" b="1" i="0" u="none" strike="noStrike" cap="none">
                <a:solidFill>
                  <a:srgbClr val="FFE899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3000" b="1" i="0" u="none" strike="noStrike" cap="none">
                <a:solidFill>
                  <a:srgbClr val="F5A623"/>
                </a:solidFill>
                <a:latin typeface="Georgia"/>
                <a:ea typeface="Georgia"/>
                <a:cs typeface="Georgia"/>
                <a:sym typeface="Georgia"/>
              </a:rPr>
              <a:t>có trí nhớ.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457200" y="1920240"/>
            <a:ext cx="502920" cy="54864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457200" y="2103120"/>
            <a:ext cx="8229600" cy="749808"/>
          </a:xfrm>
          <a:prstGeom prst="rect">
            <a:avLst/>
          </a:prstGeom>
          <a:solidFill>
            <a:srgbClr val="FFFFFF">
              <a:alpha val="7058"/>
            </a:srgbClr>
          </a:solidFill>
          <a:ln w="12700" cap="flat" cmpd="sng">
            <a:solidFill>
              <a:srgbClr val="F5A623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457200" y="2103120"/>
            <a:ext cx="54864" cy="749808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594360" y="2103120"/>
            <a:ext cx="54864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1234440" y="2157984"/>
            <a:ext cx="7223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AI Hội Thoại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1234440" y="2432304"/>
            <a:ext cx="7223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B8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9B87A"/>
                </a:solidFill>
                <a:latin typeface="Calibri"/>
                <a:ea typeface="Calibri"/>
                <a:cs typeface="Calibri"/>
                <a:sym typeface="Calibri"/>
              </a:rPr>
              <a:t>Người học luyện trong ngữ cảnh thật — không phải câu hỏi trắc nghiệm cứng nhắc. Phản hồi đúng trình độ, đúng mục tiêu.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457200" y="2990088"/>
            <a:ext cx="8229600" cy="749808"/>
          </a:xfrm>
          <a:prstGeom prst="rect">
            <a:avLst/>
          </a:prstGeom>
          <a:solidFill>
            <a:srgbClr val="FFFFFF">
              <a:alpha val="7058"/>
            </a:srgbClr>
          </a:solidFill>
          <a:ln w="12700" cap="flat" cmpd="sng">
            <a:solidFill>
              <a:srgbClr val="F5A623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457200" y="2990088"/>
            <a:ext cx="54864" cy="749808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594360" y="2990088"/>
            <a:ext cx="54864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1234440" y="3044952"/>
            <a:ext cx="7223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Bộ Nhớ Học Tập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1234440" y="3319272"/>
            <a:ext cx="7223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B8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9B87A"/>
                </a:solidFill>
                <a:latin typeface="Calibri"/>
                <a:ea typeface="Calibri"/>
                <a:cs typeface="Calibri"/>
                <a:sym typeface="Calibri"/>
              </a:rPr>
              <a:t>Hệ thống nhớ người học đã học gì, thường sai ở đâu — dài hạn và liên tục qua từng phiên học.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457200" y="3877056"/>
            <a:ext cx="8229600" cy="749808"/>
          </a:xfrm>
          <a:prstGeom prst="rect">
            <a:avLst/>
          </a:prstGeom>
          <a:solidFill>
            <a:srgbClr val="FFFFFF">
              <a:alpha val="7058"/>
            </a:srgbClr>
          </a:solidFill>
          <a:ln w="12700" cap="flat" cmpd="sng">
            <a:solidFill>
              <a:srgbClr val="F5A623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457200" y="3877056"/>
            <a:ext cx="54864" cy="749808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594360" y="3877056"/>
            <a:ext cx="54864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🔁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234440" y="3931920"/>
            <a:ext cx="7223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Cơ Chế Ôn Tập Thông Minh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234440" y="4206240"/>
            <a:ext cx="7223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B8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9B87A"/>
                </a:solidFill>
                <a:latin typeface="Calibri"/>
                <a:ea typeface="Calibri"/>
                <a:cs typeface="Calibri"/>
                <a:sym typeface="Calibri"/>
              </a:rPr>
              <a:t>Đưa đúng nội dung về đúng lúc. Không random, không cứng nhắc theo lịch — dựa trên dữ liệu cá nhân.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457200" y="4663440"/>
            <a:ext cx="8138160" cy="292608"/>
          </a:xfrm>
          <a:prstGeom prst="rect">
            <a:avLst/>
          </a:prstGeom>
          <a:solidFill>
            <a:srgbClr val="F5A623">
              <a:alpha val="12156"/>
            </a:srgbClr>
          </a:solidFill>
          <a:ln w="12700" cap="flat" cmpd="sng">
            <a:solidFill>
              <a:srgbClr val="F5D98E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594360" y="4663440"/>
            <a:ext cx="7955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050"/>
              <a:buFont typeface="Georgia"/>
              <a:buNone/>
            </a:pPr>
            <a:r>
              <a:rPr lang="en-US" sz="1050" b="0" i="1" u="none" strike="noStrike" cap="none">
                <a:solidFill>
                  <a:srgbClr val="FFE899"/>
                </a:solidFill>
                <a:latin typeface="Georgia"/>
                <a:ea typeface="Georgia"/>
                <a:cs typeface="Georgia"/>
                <a:sym typeface="Georgia"/>
              </a:rPr>
              <a:t>"Công nghệ không phải mục tiêu. Công nghệ chỉ là cách để biến việc học rời rạc thành một hệ thống học có trí nhớ."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 advClick="0" advTm="28600"/>
    </mc:Choice>
    <mc:Fallback>
      <p:transition advClick="0" advTm="286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8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55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8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7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8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85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8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415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8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3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8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45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8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36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8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675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/>
      <p:bldP spid="154" grpId="0"/>
      <p:bldP spid="158" grpId="0"/>
      <p:bldP spid="159" grpId="0"/>
      <p:bldP spid="160" grpId="0"/>
      <p:bldP spid="163" grpId="0"/>
      <p:bldP spid="164" grpId="0"/>
      <p:bldP spid="165" grpId="0"/>
      <p:bldP spid="168" grpId="0"/>
      <p:bldP spid="169" grpId="0"/>
      <p:bldP spid="170" grpId="0"/>
      <p:bldP spid="17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E0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FDEBC0">
              <a:alpha val="65098"/>
            </a:srgbClr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457200" y="347472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457200" y="34747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KẾT QUẢ KỲ VỌNG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457200" y="749808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Ít phân mảnh. Nhớ lâu hơn.</a:t>
            </a:r>
            <a:br>
              <a:rPr lang="en-US" sz="30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3000" b="1" i="0" u="none" strike="noStrike" cap="none">
                <a:solidFill>
                  <a:srgbClr val="C07A00"/>
                </a:solidFill>
                <a:latin typeface="Georgia"/>
                <a:ea typeface="Georgia"/>
                <a:cs typeface="Georgia"/>
                <a:sym typeface="Georgia"/>
              </a:rPr>
              <a:t>Tiến bộ đều hơn.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57200" y="1938528"/>
            <a:ext cx="502920" cy="54864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457200" y="210312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VỚI NGƯỜI HỌC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457200" y="2441448"/>
            <a:ext cx="3931920" cy="56692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566928" y="244144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😌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1051560" y="2441448"/>
            <a:ext cx="3246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Giảm cảm giác học mãi mà không lên.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457200" y="3127248"/>
            <a:ext cx="3931920" cy="56692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566928" y="312724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1051560" y="3127248"/>
            <a:ext cx="3246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Tăng khả năng nhớ và dùng trong tình huống thật.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57200" y="3813048"/>
            <a:ext cx="3931920" cy="56692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566928" y="381304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🗓️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1051560" y="3813048"/>
            <a:ext cx="3246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Lộ trình học liên tục, không phải phiên rời rạc.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4754880" y="210312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VỚI SẢN PHẨM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4754880" y="2441448"/>
            <a:ext cx="3931920" cy="56692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4864608" y="244144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5349240" y="2441448"/>
            <a:ext cx="3246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Tăng giữ chân vì người dùng thấy có tiếp nối.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4754880" y="3127248"/>
            <a:ext cx="3931920" cy="56692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4864608" y="312724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🏆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5349240" y="3127248"/>
            <a:ext cx="3246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Khác biệt rõ so với chatbot học tiếng Anh thường.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4754880" y="3813048"/>
            <a:ext cx="3931920" cy="56692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4864608" y="381304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5349240" y="3813048"/>
            <a:ext cx="3246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Mở đường cho premium: coaching theo nghề nghiệp.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57200" y="4617720"/>
            <a:ext cx="8138160" cy="3474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457200" y="4617720"/>
            <a:ext cx="54864" cy="347472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640080" y="4617720"/>
            <a:ext cx="79095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150"/>
              <a:buFont typeface="Georgia"/>
              <a:buNone/>
            </a:pPr>
            <a:r>
              <a:rPr lang="en-US" sz="1150" b="0" i="1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"Chúng tôi không chỉ xây một app học tiếng Anh. Chúng tôi đang xây một hệ thống học tập biết nhớ."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 advClick="0" advTm="24990"/>
    </mc:Choice>
    <mc:Fallback>
      <p:transition advClick="0" advTm="249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7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6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3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6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2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6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1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6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4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6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69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6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98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37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6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66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6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9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6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24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6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53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6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82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6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11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82" grpId="0"/>
      <p:bldP spid="184" grpId="0"/>
      <p:bldP spid="186" grpId="0"/>
      <p:bldP spid="187" grpId="0"/>
      <p:bldP spid="189" grpId="0"/>
      <p:bldP spid="190" grpId="0"/>
      <p:bldP spid="192" grpId="0"/>
      <p:bldP spid="193" grpId="0"/>
      <p:bldP spid="194" grpId="0"/>
      <p:bldP spid="196" grpId="0"/>
      <p:bldP spid="197" grpId="0"/>
      <p:bldP spid="199" grpId="0"/>
      <p:bldP spid="200" grpId="0"/>
      <p:bldP spid="202" grpId="0"/>
      <p:bldP spid="203" grpId="0"/>
      <p:bldP spid="20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A623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/>
          <p:nvPr/>
        </p:nvSpPr>
        <p:spPr>
          <a:xfrm>
            <a:off x="6400800" y="-1371600"/>
            <a:ext cx="5029200" cy="5029200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00000">
              <a:alpha val="9019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2286000" y="292608"/>
            <a:ext cx="4572000" cy="274320"/>
          </a:xfrm>
          <a:prstGeom prst="roundRect">
            <a:avLst>
              <a:gd name="adj" fmla="val 50000"/>
            </a:avLst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2286000" y="29260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TỪ CHATBOT → GIA SƯ THẬT SỰ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457200" y="713232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800"/>
              <a:buFont typeface="Georgia"/>
              <a:buNone/>
            </a:pPr>
            <a:r>
              <a:rPr lang="en-US" sz="28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Thị trường thiếu một trải nghiệm học</a:t>
            </a:r>
            <a:br>
              <a:rPr lang="en-US" sz="28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28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có thể nhớ, theo dõi và dạy tiếp.</a:t>
            </a:r>
            <a:endParaRPr sz="2800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4114800" y="1993392"/>
            <a:ext cx="914400" cy="54864"/>
          </a:xfrm>
          <a:prstGeom prst="rect">
            <a:avLst/>
          </a:prstGeom>
          <a:solidFill>
            <a:srgbClr val="1C1208">
              <a:alpha val="60000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914400" y="21031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B280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B2800"/>
                </a:solidFill>
                <a:latin typeface="Calibri"/>
                <a:ea typeface="Calibri"/>
                <a:cs typeface="Calibri"/>
                <a:sym typeface="Calibri"/>
              </a:rPr>
              <a:t>Đó là khoảng trống mà sản phẩm này đang nhắm tới.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457200" y="2670048"/>
            <a:ext cx="2651760" cy="1783080"/>
          </a:xfrm>
          <a:prstGeom prst="rect">
            <a:avLst/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594360" y="278892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PAIN THẬT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594360" y="3090672"/>
            <a:ext cx="237744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E899"/>
                </a:solidFill>
                <a:latin typeface="Calibri"/>
                <a:ea typeface="Calibri"/>
                <a:cs typeface="Calibri"/>
                <a:sym typeface="Calibri"/>
              </a:rPr>
              <a:t>Bắt đầu từ một nỗi đau cụ thể mà hàng triệu người đang gặp mỗi ngày.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3355848" y="2670048"/>
            <a:ext cx="2651760" cy="1783080"/>
          </a:xfrm>
          <a:prstGeom prst="rect">
            <a:avLst/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3493008" y="278892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TRẢI NGHIỆM RÕ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3493008" y="3090672"/>
            <a:ext cx="237744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E899"/>
                </a:solidFill>
                <a:latin typeface="Calibri"/>
                <a:ea typeface="Calibri"/>
                <a:cs typeface="Calibri"/>
                <a:sym typeface="Calibri"/>
              </a:rPr>
              <a:t>Giải bằng một vòng học đơn giản, dễ hiểu, không cần thêm nỗ lực.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6254496" y="2670048"/>
            <a:ext cx="2651760" cy="1783080"/>
          </a:xfrm>
          <a:prstGeom prst="rect">
            <a:avLst/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6391656" y="278892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KẾT QUẢ BỀN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6391656" y="3090672"/>
            <a:ext cx="237744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E899"/>
                </a:solidFill>
                <a:latin typeface="Calibri"/>
                <a:ea typeface="Calibri"/>
                <a:cs typeface="Calibri"/>
                <a:sym typeface="Calibri"/>
              </a:rPr>
              <a:t>Dùng công nghệ để tạo ra tiến bộ học tập thật sự, không chỉ vui vẻ.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457200" y="4617720"/>
            <a:ext cx="8138160" cy="347472"/>
          </a:xfrm>
          <a:prstGeom prst="rect">
            <a:avLst/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457200" y="4617720"/>
            <a:ext cx="8138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50"/>
              <a:buFont typeface="Calibri"/>
              <a:buNone/>
            </a:pPr>
            <a:r>
              <a:rPr lang="en-US" sz="1500" b="0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English Tutor AI  ·  Pitch Deck  2025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 advClick="0" advTm="21480"/>
    </mc:Choice>
    <mc:Fallback>
      <p:transition advClick="0" advTm="214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6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4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8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42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" grpId="0"/>
      <p:bldP spid="217" grpId="0"/>
      <p:bldP spid="219" grpId="0"/>
      <p:bldP spid="221" grpId="0"/>
      <p:bldP spid="222" grpId="0"/>
      <p:bldP spid="224" grpId="0"/>
      <p:bldP spid="225" grpId="0"/>
      <p:bldP spid="227" grpId="0"/>
      <p:bldP spid="228" grpId="0"/>
      <p:bldP spid="23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365</Words>
  <Application>Microsoft Office PowerPoint</Application>
  <PresentationFormat>On-screen Show (16:9)</PresentationFormat>
  <Paragraphs>45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quang nguyễn</cp:lastModifiedBy>
  <cp:revision>4</cp:revision>
  <dcterms:modified xsi:type="dcterms:W3CDTF">2026-05-16T17:44:20Z</dcterms:modified>
</cp:coreProperties>
</file>
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7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FDEBC0">
              <a:alpha val="80000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F5A623">
              <a:alpha val="30196"/>
            </a:srgbClr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3474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VẤN ĐỀ CỐT LÕI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749808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Học mãi, mà vẫn phải</a:t>
            </a:r>
            <a:br>
              <a:rPr lang="en-US" sz="28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2800" b="1" i="0" u="none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bắt đầu lại từ đầu.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1874520"/>
            <a:ext cx="502920" cy="59436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200" y="201168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Người học không thiếu video, bài tập hay chatbot.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Điều họ thiếu là một hệ thống thật sự nhớ họ đã học gì, sai gì, và cần ôn lại khi nào.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2907792"/>
            <a:ext cx="4937760" cy="47548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66928" y="2907792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005840" y="2907792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Học hôm nay — vài ngày sau quên hoàn toàn.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57200" y="3474720"/>
            <a:ext cx="4937760" cy="47548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66928" y="3474720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1005840" y="3474720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Sai cùng một lỗi nhiều lần vì không được nhắc đúng lúc.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7200" y="4041648"/>
            <a:ext cx="4937760" cy="47548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566928" y="4041648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🧩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005840" y="4041648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Dùng rất nhiều công cụ, tiến bộ vẫn không đến.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806440" y="777240"/>
            <a:ext cx="2926080" cy="3840480"/>
          </a:xfrm>
          <a:prstGeom prst="rect">
            <a:avLst/>
          </a:prstGeom>
          <a:solidFill>
            <a:srgbClr val="FEF6E0"/>
          </a:solidFill>
          <a:ln w="1905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5806440" y="777240"/>
            <a:ext cx="64008" cy="3840480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5989320" y="1143000"/>
            <a:ext cx="26060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lang="en-US" sz="120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"Vấn đề không nằm ở chỗ người học không cố gắng.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lang="en-US" sz="120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Vấn đề là trải nghiệm học hiện tại không tích lũy được trí nhớ dài hạn."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989320" y="2926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— Presenter Note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 advClick="0" advTm="20980"/>
    </mc:Choice>
    <mc:Fallback>
      <p:transition advClick="0" advTm="209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1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7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3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9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2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1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4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  <p:bldP spid="24" grpId="0"/>
      <p:bldP spid="25" grpId="0"/>
      <p:bldP spid="27" grpId="0"/>
      <p:bldP spid="28" grpId="0"/>
      <p:bldP spid="30" grpId="0"/>
      <p:bldP spid="31" grpId="0"/>
      <p:bldP spid="34" grpId="0"/>
      <p:bldP spid="3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208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5A623">
              <a:alpha val="12156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FDEBC0">
              <a:alpha val="10196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57200" y="34747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2156"/>
            </a:srgbClr>
          </a:solidFill>
          <a:ln w="12700" cap="flat" cmpd="sng">
            <a:solidFill>
              <a:srgbClr val="F5D9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57200" y="3474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D98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5D98E"/>
                </a:solidFill>
                <a:latin typeface="Calibri"/>
                <a:ea typeface="Calibri"/>
                <a:cs typeface="Calibri"/>
                <a:sym typeface="Calibri"/>
              </a:rPr>
              <a:t>AI ĐANG ĐAU?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  <a:t>Học ở chỗ này, ôn ở chỗ khác,</a:t>
            </a:r>
            <a:br>
              <a:rPr lang="en-US" sz="3000" b="1" i="0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000" b="1" i="0" u="none" strike="noStrike" cap="none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tra lỗi ở chỗ khác nữa.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" y="1938528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57200" y="20848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AI BỊ ẢNH HƯỞNG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" y="2423160"/>
            <a:ext cx="3840480" cy="493776"/>
          </a:xfrm>
          <a:prstGeom prst="rect">
            <a:avLst/>
          </a:prstGeom>
          <a:solidFill>
            <a:srgbClr val="F5A623">
              <a:alpha val="14901"/>
            </a:srgbClr>
          </a:solidFill>
          <a:ln w="12700" cap="flat" cmpd="sng">
            <a:solidFill>
              <a:srgbClr val="F5A623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66928" y="242316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005840" y="242316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Sinh viên sắp đi làm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57200" y="3017520"/>
            <a:ext cx="3840480" cy="493776"/>
          </a:xfrm>
          <a:prstGeom prst="rect">
            <a:avLst/>
          </a:prstGeom>
          <a:solidFill>
            <a:srgbClr val="F5A623">
              <a:alpha val="14901"/>
            </a:srgbClr>
          </a:solidFill>
          <a:ln w="12700" cap="flat" cmpd="sng">
            <a:solidFill>
              <a:srgbClr val="F5A623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66928" y="301752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💼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005840" y="301752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Người đi làm cần tiếng Anh hàng ngày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7200" y="3611880"/>
            <a:ext cx="3840480" cy="493776"/>
          </a:xfrm>
          <a:prstGeom prst="rect">
            <a:avLst/>
          </a:prstGeom>
          <a:solidFill>
            <a:srgbClr val="F5A623">
              <a:alpha val="14901"/>
            </a:srgbClr>
          </a:solidFill>
          <a:ln w="12700" cap="flat" cmpd="sng">
            <a:solidFill>
              <a:srgbClr val="F5A623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566928" y="361188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005840" y="361188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Người học lâu năm vẫn thiếu phản xạ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754880" y="20848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HẬU QUẢ THỰC TẾ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754880" y="2423160"/>
            <a:ext cx="3840480" cy="493776"/>
          </a:xfrm>
          <a:prstGeom prst="rect">
            <a:avLst/>
          </a:prstGeom>
          <a:solidFill>
            <a:srgbClr val="E84B2A">
              <a:alpha val="12156"/>
            </a:srgbClr>
          </a:solidFill>
          <a:ln w="12700" cap="flat" cmpd="sng">
            <a:solidFill>
              <a:srgbClr val="E84B2A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864608" y="242316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303520" y="242316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Kiến thức không nối tiếp thành kỹ năng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754880" y="3017520"/>
            <a:ext cx="3840480" cy="493776"/>
          </a:xfrm>
          <a:prstGeom prst="rect">
            <a:avLst/>
          </a:prstGeom>
          <a:solidFill>
            <a:srgbClr val="E84B2A">
              <a:alpha val="12156"/>
            </a:srgbClr>
          </a:solidFill>
          <a:ln w="12700" cap="flat" cmpd="sng">
            <a:solidFill>
              <a:srgbClr val="E84B2A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4864608" y="301752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303520" y="301752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Lỗi cũ cứ lặp lại mãi không hết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754880" y="3611880"/>
            <a:ext cx="3840480" cy="493776"/>
          </a:xfrm>
          <a:prstGeom prst="rect">
            <a:avLst/>
          </a:prstGeom>
          <a:solidFill>
            <a:srgbClr val="E84B2A">
              <a:alpha val="12156"/>
            </a:srgbClr>
          </a:solidFill>
          <a:ln w="12700" cap="flat" cmpd="sng">
            <a:solidFill>
              <a:srgbClr val="E84B2A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4864608" y="361188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⏳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303520" y="361188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Học nhiều giờ hơn, kết quả không tương xứng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57200" y="4315968"/>
            <a:ext cx="8138160" cy="594360"/>
          </a:xfrm>
          <a:prstGeom prst="rect">
            <a:avLst/>
          </a:prstGeom>
          <a:solidFill>
            <a:srgbClr val="F5A623">
              <a:alpha val="12156"/>
            </a:srgbClr>
          </a:solidFill>
          <a:ln w="12700" cap="flat" cmpd="sng">
            <a:solidFill>
              <a:srgbClr val="F5D98E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57200" y="4315968"/>
            <a:ext cx="54864" cy="594360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640080" y="4315968"/>
            <a:ext cx="7909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150"/>
              <a:buFont typeface="Georgia"/>
              <a:buNone/>
            </a:pPr>
            <a:r>
              <a:rPr lang="en-US" sz="1150" b="0" i="1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  <a:t>"Hôm qua viết sai một câu email. Hôm nay hệ thống không nhớ gì — và câu đó lại bị sai thêm một lần nữa."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 advClick="0" advTm="20980"/>
    </mc:Choice>
    <mc:Fallback>
      <p:transition advClick="0" advTm="209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9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8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8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6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7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8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8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9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8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1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48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8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9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8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1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8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41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8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72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8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3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8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34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8" grpId="0"/>
      <p:bldP spid="50" grpId="0"/>
      <p:bldP spid="51" grpId="0"/>
      <p:bldP spid="53" grpId="0"/>
      <p:bldP spid="54" grpId="0"/>
      <p:bldP spid="56" grpId="0"/>
      <p:bldP spid="57" grpId="0"/>
      <p:bldP spid="58" grpId="0"/>
      <p:bldP spid="60" grpId="0"/>
      <p:bldP spid="61" grpId="0"/>
      <p:bldP spid="63" grpId="0"/>
      <p:bldP spid="64" grpId="0"/>
      <p:bldP spid="66" grpId="0"/>
      <p:bldP spid="67" grpId="0"/>
      <p:bldP spid="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0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6400800" y="-1097280"/>
            <a:ext cx="4114800" cy="4114800"/>
          </a:xfrm>
          <a:prstGeom prst="ellipse">
            <a:avLst/>
          </a:prstGeom>
          <a:solidFill>
            <a:srgbClr val="FDEBC0">
              <a:alpha val="70196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57200" y="347472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457200" y="34747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THỊ TRƯỜNG ĐANG THAY ĐỔI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749808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31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Không phải ai có nhiều bài học hơn sẽ thắng —</a:t>
            </a:r>
            <a:br>
              <a:rPr lang="en-US" sz="31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100" b="1" i="0" u="none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mà ai giúp người học tiến bộ đều hơn.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2029968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57200" y="2212848"/>
            <a:ext cx="3931920" cy="256032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94360" y="235915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❌  Content First — Cách cũ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94360" y="2761488"/>
            <a:ext cx="3657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02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4020"/>
                </a:solidFill>
                <a:latin typeface="Calibri"/>
                <a:ea typeface="Calibri"/>
                <a:cs typeface="Calibri"/>
                <a:sym typeface="Calibri"/>
              </a:rPr>
              <a:t>Ai có nhiều video, bài tập, từ vựng hơn thì được chọn.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02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4020"/>
                </a:solidFill>
                <a:latin typeface="Calibri"/>
                <a:ea typeface="Calibri"/>
                <a:cs typeface="Calibri"/>
                <a:sym typeface="Calibri"/>
              </a:rPr>
              <a:t>Kết quả: biển nội dung khổng lồ, không có phương hướng.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02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4020"/>
                </a:solidFill>
                <a:latin typeface="Calibri"/>
                <a:ea typeface="Calibri"/>
                <a:cs typeface="Calibri"/>
                <a:sym typeface="Calibri"/>
              </a:rPr>
              <a:t>Người học bị mệt, không biết mình đang tiến bộ không.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754880" y="2212848"/>
            <a:ext cx="3931920" cy="2560320"/>
          </a:xfrm>
          <a:prstGeom prst="rect">
            <a:avLst/>
          </a:prstGeom>
          <a:solidFill>
            <a:srgbClr val="C07A00"/>
          </a:solidFill>
          <a:ln w="12700" cap="flat" cmpd="sng">
            <a:solidFill>
              <a:srgbClr val="C07A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892040" y="235915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✅  Memory First — Cách mới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892040" y="2761488"/>
            <a:ext cx="3657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Ai nhớ người học là ai, biết họ sai gì, và đưa đúng nội dung về đúng lúc.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Kết quả: người học tiến bộ đều và có thể đo lường được.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Mỗi phiên học nối tiếp phiên trước.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 advClick="0" advTm="20980"/>
    </mc:Choice>
    <mc:Fallback>
      <p:transition advClick="0" advTm="209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1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/>
      <p:bldP spid="83" grpId="0"/>
      <p:bldP spid="84" grpId="0"/>
      <p:bldP spid="86" grpId="0"/>
      <p:bldP spid="8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A623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000000">
              <a:alpha val="7843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457200" y="347472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FFBF2"/>
          </a:solidFill>
          <a:ln w="12700" cap="flat" cmpd="sng">
            <a:solidFill>
              <a:srgbClr val="FFFB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57200" y="34747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GIẢI PHÁP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57200" y="713232"/>
            <a:ext cx="512064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000"/>
              <a:buFont typeface="Georgia"/>
              <a:buNone/>
            </a:pPr>
            <a:r>
              <a:rPr lang="en-US" sz="20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Một gia sư AI không chỉ trả lời —</a:t>
            </a:r>
            <a:endParaRPr sz="20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000"/>
              <a:buFont typeface="Georgia"/>
              <a:buNone/>
            </a:pPr>
            <a:r>
              <a:rPr lang="en-US" sz="20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mà </a:t>
            </a:r>
            <a:endParaRPr sz="20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000"/>
              <a:buFont typeface="Georgia"/>
              <a:buNone/>
            </a:pPr>
            <a:r>
              <a:rPr lang="en-US" sz="20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nhớ, theo dõi và dạy tiếp</a:t>
            </a:r>
            <a:endParaRPr sz="20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000"/>
              <a:buFont typeface="Georgia"/>
              <a:buNone/>
            </a:pPr>
            <a:r>
              <a:rPr lang="en-US" sz="20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từ đúng chỗ bạn đang vướng.</a:t>
            </a:r>
            <a:endParaRPr sz="20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57200" y="2487168"/>
            <a:ext cx="502920" cy="54864"/>
          </a:xfrm>
          <a:prstGeom prst="rect">
            <a:avLst/>
          </a:prstGeom>
          <a:solidFill>
            <a:srgbClr val="1C1208">
              <a:alpha val="60000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57200" y="2633472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B28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B2800"/>
                </a:solidFill>
                <a:latin typeface="Calibri"/>
                <a:ea typeface="Calibri"/>
                <a:cs typeface="Calibri"/>
                <a:sym typeface="Calibri"/>
              </a:rPr>
              <a:t>Chúng tôi giúp người Việt học tiếng Anh đạt tiến bộ bền vững hơn bằng một gia sư AI nhớ mục tiêu, lỗi sai và lịch ôn của từng người — thay vì để họ tự ghép nhiều công cụ rời rạc.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57200" y="3547872"/>
            <a:ext cx="2423160" cy="13716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 cmpd="sng">
            <a:solidFill>
              <a:srgbClr val="000000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94360" y="363016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280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B2800"/>
                </a:solidFill>
                <a:latin typeface="Calibri"/>
                <a:ea typeface="Calibri"/>
                <a:cs typeface="Calibri"/>
                <a:sym typeface="Calibri"/>
              </a:rPr>
              <a:t>CÁCH CŨ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94360" y="3913632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280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3B2800"/>
                </a:solidFill>
                <a:latin typeface="Calibri"/>
                <a:ea typeface="Calibri"/>
                <a:cs typeface="Calibri"/>
                <a:sym typeface="Calibri"/>
              </a:rPr>
              <a:t>Tự lưu note, tự tạo flashcard, tự nhớ lịch ôn. Nặng nề và rất dễ bỏ cuộc.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063240" y="3547872"/>
            <a:ext cx="2423160" cy="137160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3200400" y="363016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CÁCH MỚI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200400" y="3913632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Hệ thống tự ghi nhớ, tự nhắc lại và cá nhân hoá. Không cần nỗ lực thêm.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943600" y="1371600"/>
            <a:ext cx="2743200" cy="265176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5943600" y="1536192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✨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943600" y="20848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Aha Moment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080760" y="2423160"/>
            <a:ext cx="246888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Georgia"/>
              <a:buNone/>
            </a:pP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Phát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hiện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lỗi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sai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lưu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lại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và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gợi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nhắc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ôn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tập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cho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từng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học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viên</a:t>
            </a:r>
            <a:r>
              <a:rPr lang="en-US" sz="1200" b="0" i="1" u="none" strike="noStrike" cap="none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 advClick="0" advTm="24470"/>
    </mc:Choice>
    <mc:Fallback>
      <p:transition advClick="0" advTm="244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6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98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3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2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7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2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98" grpId="0"/>
      <p:bldP spid="100" grpId="0"/>
      <p:bldP spid="102" grpId="0"/>
      <p:bldP spid="103" grpId="0"/>
      <p:bldP spid="105" grpId="0"/>
      <p:bldP spid="106" grpId="0"/>
      <p:bldP spid="108" grpId="0"/>
      <p:bldP spid="109" grpId="0"/>
      <p:bldP spid="1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DEBC0">
              <a:alpha val="74901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457200" y="347472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457200" y="34747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CÁCH SẢN PHẨM HOẠT ĐỘNG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Một vòng học </a:t>
            </a:r>
            <a:r>
              <a:rPr lang="en-US" sz="2800" b="1" i="0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khép kín</a:t>
            </a: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 —</a:t>
            </a:r>
            <a:endParaRPr sz="28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học, thực hành, ghi nhớ, ôn lại.</a:t>
            </a:r>
            <a:endParaRPr sz="28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7200" y="1938528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57200" y="2121408"/>
            <a:ext cx="402336" cy="402336"/>
          </a:xfrm>
          <a:prstGeom prst="ellipse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457200" y="212140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005840" y="2103120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Chat trong ngữ cảnh thật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005840" y="2359152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Viết email, hội thoại, thuyết trình — không phải trắc nghiệm cứng nhắc.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7"/>
          <p:cNvCxnSpPr/>
          <p:nvPr/>
        </p:nvCxnSpPr>
        <p:spPr>
          <a:xfrm>
            <a:off x="658368" y="2560320"/>
            <a:ext cx="0" cy="219456"/>
          </a:xfrm>
          <a:prstGeom prst="straightConnector1">
            <a:avLst/>
          </a:prstGeom>
          <a:noFill/>
          <a:ln w="19050" cap="flat" cmpd="sng">
            <a:solidFill>
              <a:srgbClr val="FDEBC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7" name="Google Shape;127;p7"/>
          <p:cNvSpPr/>
          <p:nvPr/>
        </p:nvSpPr>
        <p:spPr>
          <a:xfrm>
            <a:off x="457200" y="2706624"/>
            <a:ext cx="402336" cy="402336"/>
          </a:xfrm>
          <a:prstGeom prst="ellipse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57200" y="27066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005840" y="2688336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Nhận diện lỗi &amp; mục tiêu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005840" y="2944368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Hệ thống nhận ra lỗi, đánh giá mức độ và gắn với mục tiêu cá nhân.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7"/>
          <p:cNvCxnSpPr/>
          <p:nvPr/>
        </p:nvCxnSpPr>
        <p:spPr>
          <a:xfrm>
            <a:off x="658368" y="3145536"/>
            <a:ext cx="0" cy="219456"/>
          </a:xfrm>
          <a:prstGeom prst="straightConnector1">
            <a:avLst/>
          </a:prstGeom>
          <a:noFill/>
          <a:ln w="19050" cap="flat" cmpd="sng">
            <a:solidFill>
              <a:srgbClr val="FDEBC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2" name="Google Shape;132;p7"/>
          <p:cNvSpPr/>
          <p:nvPr/>
        </p:nvSpPr>
        <p:spPr>
          <a:xfrm>
            <a:off x="457200" y="3291840"/>
            <a:ext cx="402336" cy="402336"/>
          </a:xfrm>
          <a:prstGeom prst="ellipse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57200" y="32918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005840" y="3273552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Lưu thành trí nhớ cá nhân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005840" y="3529584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Không cần tự ghi chép — hệ thống tự lưu lại những gì quan trọng.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7"/>
          <p:cNvCxnSpPr/>
          <p:nvPr/>
        </p:nvCxnSpPr>
        <p:spPr>
          <a:xfrm>
            <a:off x="658368" y="3730752"/>
            <a:ext cx="0" cy="219456"/>
          </a:xfrm>
          <a:prstGeom prst="straightConnector1">
            <a:avLst/>
          </a:prstGeom>
          <a:noFill/>
          <a:ln w="19050" cap="flat" cmpd="sng">
            <a:solidFill>
              <a:srgbClr val="FDEBC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7" name="Google Shape;137;p7"/>
          <p:cNvSpPr/>
          <p:nvPr/>
        </p:nvSpPr>
        <p:spPr>
          <a:xfrm>
            <a:off x="457200" y="3877056"/>
            <a:ext cx="402336" cy="402336"/>
          </a:xfrm>
          <a:prstGeom prst="ellipse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457200" y="38770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005840" y="3858768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Bài ôn quay lại đúng lúc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005840" y="4114800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Kiến thức trở thành phản xạ tự nhiên qua ôn tập thông minh.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57200" y="4617720"/>
            <a:ext cx="8138160" cy="320040"/>
          </a:xfrm>
          <a:prstGeom prst="rect">
            <a:avLst/>
          </a:prstGeom>
          <a:solidFill>
            <a:srgbClr val="FEF6E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457200" y="4617720"/>
            <a:ext cx="54864" cy="320040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640080" y="4617720"/>
            <a:ext cx="7909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100"/>
              <a:buFont typeface="Georgia"/>
              <a:buNone/>
            </a:pPr>
            <a:r>
              <a:rPr lang="en-US" sz="110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"Mỗi buổi học đều nối tiếp buổi trước — như có người thật đang theo dõi hành trình của bạn."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 advClick="0" advTm="45420"/>
    </mc:Choice>
    <mc:Fallback>
      <p:transition advClick="0" advTm="454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4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5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4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7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4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35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9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4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65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4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43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4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695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4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96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225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4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49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55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4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2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  <p:bldP spid="120" grpId="0"/>
      <p:bldP spid="123" grpId="0"/>
      <p:bldP spid="124" grpId="0"/>
      <p:bldP spid="125" grpId="0"/>
      <p:bldP spid="128" grpId="0"/>
      <p:bldP spid="129" grpId="0"/>
      <p:bldP spid="130" grpId="0"/>
      <p:bldP spid="133" grpId="0"/>
      <p:bldP spid="134" grpId="0"/>
      <p:bldP spid="135" grpId="0"/>
      <p:bldP spid="138" grpId="0"/>
      <p:bldP spid="139" grpId="0"/>
      <p:bldP spid="140" grpId="0"/>
      <p:bldP spid="14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641</Words>
  <Application>Microsoft Office PowerPoint</Application>
  <PresentationFormat>On-screen Show (16:9)</PresentationFormat>
  <Paragraphs>83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quang nguyễn</cp:lastModifiedBy>
  <cp:revision>4</cp:revision>
  <dcterms:modified xsi:type="dcterms:W3CDTF">2026-05-16T17:44:08Z</dcterms:modified>
</cp:coreProperties>
</file>
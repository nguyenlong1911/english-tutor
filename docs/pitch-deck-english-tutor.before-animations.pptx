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7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" name="Google Shape;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" name="Google Shape;9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0" name="Google Shape;21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FDEBC0">
              <a:alpha val="80000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731520" y="3474720"/>
            <a:ext cx="2560320" cy="2560320"/>
          </a:xfrm>
          <a:prstGeom prst="ellipse">
            <a:avLst/>
          </a:prstGeom>
          <a:solidFill>
            <a:srgbClr val="F5A623">
              <a:alpha val="30196"/>
            </a:srgbClr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347472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3474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VẤN ĐỀ CỐT LÕI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749808"/>
            <a:ext cx="51206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Học mãi, mà vẫn phải</a:t>
            </a:r>
            <a:br>
              <a:rPr lang="en-US" sz="28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28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bắt đầu lại từ đầu.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1874520"/>
            <a:ext cx="502920" cy="59436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457200" y="2011680"/>
            <a:ext cx="49377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Người học không thiếu video, bài tập hay chatbot.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250"/>
              <a:buFont typeface="Calibri"/>
              <a:buNone/>
            </a:pPr>
            <a:r>
              <a:rPr lang="en-US" sz="12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Điều họ thiếu là một hệ thống thật sự nhớ họ đã học gì, sai gì, và cần ôn lại khi nào.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2907792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566928" y="2907792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005840" y="2907792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Học hôm nay — vài ngày sau quên hoàn toàn.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457200" y="3474720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566928" y="3474720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⚠️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005840" y="3474720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Sai cùng một lỗi nhiều lần vì không được nhắc đúng lúc.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457200" y="4041648"/>
            <a:ext cx="4937760" cy="47548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566928" y="4041648"/>
            <a:ext cx="3657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005840" y="4041648"/>
            <a:ext cx="429768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Dùng rất nhiều công cụ, tiến bộ vẫn không đến.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5806440" y="777240"/>
            <a:ext cx="2926080" cy="3840480"/>
          </a:xfrm>
          <a:prstGeom prst="rect">
            <a:avLst/>
          </a:prstGeom>
          <a:solidFill>
            <a:srgbClr val="FEF6E0"/>
          </a:solidFill>
          <a:ln w="1905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806440" y="777240"/>
            <a:ext cx="64008" cy="384048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5989320" y="1143000"/>
            <a:ext cx="26060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"Vấn đề không nằm ở chỗ người học không cố gắng.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Georgia"/>
              <a:buNone/>
            </a:pPr>
            <a:r>
              <a:rPr lang="en-US" sz="12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Vấn đề là trải nghiệm học hiện tại không tích lũy được trí nhớ dài hạn."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5989320" y="2926080"/>
            <a:ext cx="2606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0" i="1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— Presenter Note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208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7315200" y="3200400"/>
            <a:ext cx="2743200" cy="2743200"/>
          </a:xfrm>
          <a:prstGeom prst="ellipse">
            <a:avLst/>
          </a:prstGeom>
          <a:solidFill>
            <a:srgbClr val="FDEBC0">
              <a:alpha val="1019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57200" y="34747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2156"/>
            </a:srgbClr>
          </a:solidFill>
          <a:ln w="12700" cap="flat" cmpd="sng">
            <a:solidFill>
              <a:srgbClr val="F5D9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57200" y="347472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D98E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D98E"/>
                </a:solidFill>
                <a:latin typeface="Calibri"/>
                <a:ea typeface="Calibri"/>
                <a:cs typeface="Calibri"/>
                <a:sym typeface="Calibri"/>
              </a:rPr>
              <a:t>AI ĐANG ĐAU?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Học ở chỗ này, ôn ở chỗ khác,</a:t>
            </a:r>
            <a:b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tra lỗi ở chỗ khác nữa.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457200" y="20848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AI BỊ ẢNH HƯỞNG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457200" y="242316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566928" y="242316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005840" y="242316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Sinh viên sắp đi làm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457200" y="301752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66928" y="301752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💼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005840" y="301752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Người đi làm cần tiếng Anh hàng ngày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457200" y="3611880"/>
            <a:ext cx="3840480" cy="493776"/>
          </a:xfrm>
          <a:prstGeom prst="rect">
            <a:avLst/>
          </a:prstGeom>
          <a:solidFill>
            <a:srgbClr val="F5A623">
              <a:alpha val="14901"/>
            </a:srgbClr>
          </a:solidFill>
          <a:ln w="12700" cap="flat" cmpd="sng">
            <a:solidFill>
              <a:srgbClr val="F5A623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66928" y="361188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😓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005840" y="361188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Người học lâu năm vẫn thiếu phản xạ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4754880" y="20848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HẬU QUẢ THỰC TẾ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4754880" y="242316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4864608" y="242316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❌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5303520" y="242316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Kiến thức không nối tiếp thành kỹ năng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4754880" y="301752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4864608" y="301752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5303520" y="301752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Lỗi cũ cứ lặp lại mãi không hết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754880" y="3611880"/>
            <a:ext cx="3840480" cy="493776"/>
          </a:xfrm>
          <a:prstGeom prst="rect">
            <a:avLst/>
          </a:prstGeom>
          <a:solidFill>
            <a:srgbClr val="E84B2A">
              <a:alpha val="12156"/>
            </a:srgbClr>
          </a:solidFill>
          <a:ln w="12700" cap="flat" cmpd="sng">
            <a:solidFill>
              <a:srgbClr val="E84B2A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4864608" y="3611880"/>
            <a:ext cx="36576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⏳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5303520" y="3611880"/>
            <a:ext cx="3200400" cy="49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Học nhiều giờ hơn, kết quả không tương xứng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457200" y="4315968"/>
            <a:ext cx="8138160" cy="594360"/>
          </a:xfrm>
          <a:prstGeom prst="rect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F5D98E">
                <a:alpha val="5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457200" y="4315968"/>
            <a:ext cx="54864" cy="59436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40080" y="4315968"/>
            <a:ext cx="790956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Georgia"/>
              <a:buNone/>
            </a:pPr>
            <a:r>
              <a:rPr lang="en-US" sz="1150" b="0" i="1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"Hôm qua viết sai một câu email. Hôm nay hệ thống không nhớ gì — và câu đó lại bị sai thêm một lần nữa."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0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FDEBC0">
              <a:alpha val="70196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457200" y="347472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5"/>
          <p:cNvSpPr/>
          <p:nvPr/>
        </p:nvSpPr>
        <p:spPr>
          <a:xfrm>
            <a:off x="457200" y="34747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THỊ TRƯỜNG ĐANG THAY ĐỔI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749808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31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Không phải ai có nhiều bài học hơn sẽ thắng —</a:t>
            </a:r>
            <a:br>
              <a:rPr lang="en-US" sz="31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1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mà ai giúp người học tiến bộ đều hơn.</a:t>
            </a:r>
            <a:endParaRPr sz="3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202996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5"/>
          <p:cNvSpPr/>
          <p:nvPr/>
        </p:nvSpPr>
        <p:spPr>
          <a:xfrm>
            <a:off x="457200" y="2212848"/>
            <a:ext cx="3931920" cy="256032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594360" y="23591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❌  Content First — Cách cũ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94360" y="2761488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Ai có nhiều video, bài tập, từ vựng hơn thì được chọn.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Kết quả: biển nội dung khổng lồ, không có phương hướng.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4020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5A4020"/>
                </a:solidFill>
                <a:latin typeface="Calibri"/>
                <a:ea typeface="Calibri"/>
                <a:cs typeface="Calibri"/>
                <a:sym typeface="Calibri"/>
              </a:rPr>
              <a:t>Người học bị mệt, không biết mình đang tiến bộ không.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754880" y="2212848"/>
            <a:ext cx="3931920" cy="2560320"/>
          </a:xfrm>
          <a:prstGeom prst="rect">
            <a:avLst/>
          </a:prstGeom>
          <a:solidFill>
            <a:srgbClr val="C07A00"/>
          </a:solidFill>
          <a:ln w="12700" cap="flat" cmpd="sng">
            <a:solidFill>
              <a:srgbClr val="C07A0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4892040" y="235915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✅  Memory First — Cách mới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4892040" y="2761488"/>
            <a:ext cx="36576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Ai nhớ người học là ai, biết họ sai gì, và đưa đúng nội dung về đúng lúc.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Kết quả: người học tiến bộ đều và có thể đo lường được.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Calibri"/>
              <a:buNone/>
            </a:pP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Mỗi phiên học nối tiếp phiên trước.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A623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"/>
          <p:cNvSpPr/>
          <p:nvPr/>
        </p:nvSpPr>
        <p:spPr>
          <a:xfrm>
            <a:off x="-1097280" y="-1097280"/>
            <a:ext cx="4572000" cy="4572000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772400" y="3200400"/>
            <a:ext cx="3200400" cy="3200400"/>
          </a:xfrm>
          <a:prstGeom prst="ellipse">
            <a:avLst/>
          </a:prstGeom>
          <a:solidFill>
            <a:srgbClr val="000000">
              <a:alpha val="7843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457200" y="347472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BF2"/>
          </a:solidFill>
          <a:ln w="12700" cap="flat" cmpd="sng">
            <a:solidFill>
              <a:srgbClr val="FFFBF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457200" y="347472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GIẢI PHÁP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" y="713232"/>
            <a:ext cx="51206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Một gia sư AI không chỉ trả lời —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mà 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nhớ, theo dõi và dạy tiếp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000"/>
              <a:buFont typeface="Georgia"/>
              <a:buNone/>
            </a:pPr>
            <a:r>
              <a:rPr lang="en-US" sz="20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từ đúng chỗ bạn đang vướng.</a:t>
            </a:r>
            <a:endParaRPr sz="20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2487168"/>
            <a:ext cx="502920" cy="54864"/>
          </a:xfrm>
          <a:prstGeom prst="rect">
            <a:avLst/>
          </a:prstGeom>
          <a:solidFill>
            <a:srgbClr val="1C1208">
              <a:alpha val="60000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457200" y="2633472"/>
            <a:ext cx="51206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Chúng tôi giúp người Việt học tiếng Anh đạt tiến bộ bền vững hơn bằng một gia sư AI nhớ mục tiêu, lỗi sai và lịch ôn của từng người — thay vì để họ tự ghép nhiều công cụ rời rạc.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457200" y="3547872"/>
            <a:ext cx="2423160" cy="1371600"/>
          </a:xfrm>
          <a:prstGeom prst="rect">
            <a:avLst/>
          </a:prstGeom>
          <a:solidFill>
            <a:srgbClr val="000000">
              <a:alpha val="25098"/>
            </a:srgbClr>
          </a:solidFill>
          <a:ln w="12700" cap="flat" cmpd="sng">
            <a:solidFill>
              <a:srgbClr val="000000">
                <a:alpha val="34901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594360" y="363016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CÁCH CŨ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594360" y="3913632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Tự lưu note, tự tạo flashcard, tự nhớ lịch ôn. Nặng nề và rất dễ bỏ cuộc.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063240" y="3547872"/>
            <a:ext cx="2423160" cy="137160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3200400" y="363016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CÁCH MỚI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200400" y="3913632"/>
            <a:ext cx="21488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050"/>
              <a:buFont typeface="Calibri"/>
              <a:buNone/>
            </a:pPr>
            <a:r>
              <a:rPr lang="en-US" sz="1050" b="0" i="0" u="none" strike="noStrike" cap="none">
                <a:solidFill>
                  <a:srgbClr val="E8D9A0"/>
                </a:solidFill>
                <a:latin typeface="Calibri"/>
                <a:ea typeface="Calibri"/>
                <a:cs typeface="Calibri"/>
                <a:sym typeface="Calibri"/>
              </a:rPr>
              <a:t>Hệ thống tự ghi nhớ, tự nhắc lại và cá nhân hoá. Không cần nỗ lực thêm.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943600" y="1371600"/>
            <a:ext cx="2743200" cy="265176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943600" y="1536192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✨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5943600" y="20848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Aha Moment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080760" y="2423160"/>
            <a:ext cx="2468880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8D9A0"/>
              </a:buClr>
              <a:buSzPts val="1200"/>
              <a:buFont typeface="Georgia"/>
              <a:buNone/>
            </a:pP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Phát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hiện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lỗi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sai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,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lưu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lại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và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gợi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nhắc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ôn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tập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cho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từng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học</a:t>
            </a:r>
            <a:r>
              <a:rPr lang="en-US" sz="1200" i="1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 sz="1200" i="1" dirty="0" err="1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viên</a:t>
            </a:r>
            <a:r>
              <a:rPr lang="en-US" sz="1200" b="0" i="1" u="none" strike="noStrike" cap="none" dirty="0">
                <a:solidFill>
                  <a:srgbClr val="E8D9A0"/>
                </a:solidFill>
                <a:latin typeface="Georgia"/>
                <a:ea typeface="Georgia"/>
                <a:cs typeface="Georgia"/>
                <a:sym typeface="Georgia"/>
              </a:rPr>
              <a:t>.</a:t>
            </a:r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2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FDEBC0">
              <a:alpha val="74901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457200" y="347472"/>
            <a:ext cx="219456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57200" y="347472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CÁCH SẢN PHẨM HOẠT ĐỘNG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Một vòng học </a:t>
            </a:r>
            <a:r>
              <a:rPr lang="en-US" sz="2800" b="1" i="0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khép kín</a:t>
            </a: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 —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học, thực hành, ghi nhớ, ôn lại.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57200" y="2121408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457200" y="21214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1005840" y="2103120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Chat trong ngữ cảnh thật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005840" y="2359152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Viết email, hội thoại, thuyết trình — không phải trắc nghiệm cứng nhắc.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6" name="Google Shape;126;p7"/>
          <p:cNvCxnSpPr/>
          <p:nvPr/>
        </p:nvCxnSpPr>
        <p:spPr>
          <a:xfrm>
            <a:off x="658368" y="2560320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27" name="Google Shape;127;p7"/>
          <p:cNvSpPr/>
          <p:nvPr/>
        </p:nvSpPr>
        <p:spPr>
          <a:xfrm>
            <a:off x="457200" y="2706624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57200" y="27066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005840" y="2688336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Nhận diện lỗi &amp; mục tiêu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1005840" y="2944368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Hệ thống nhận ra lỗi, đánh giá mức độ và gắn với mục tiêu cá nhân.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7"/>
          <p:cNvCxnSpPr/>
          <p:nvPr/>
        </p:nvCxnSpPr>
        <p:spPr>
          <a:xfrm>
            <a:off x="658368" y="3145536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2" name="Google Shape;132;p7"/>
          <p:cNvSpPr/>
          <p:nvPr/>
        </p:nvSpPr>
        <p:spPr>
          <a:xfrm>
            <a:off x="457200" y="3291840"/>
            <a:ext cx="402336" cy="402336"/>
          </a:xfrm>
          <a:prstGeom prst="ellipse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57200" y="329184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1005840" y="3273552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Lưu thành trí nhớ cá nhân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005840" y="3529584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Không cần tự ghi chép — hệ thống tự lưu lại những gì quan trọng.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7"/>
          <p:cNvCxnSpPr/>
          <p:nvPr/>
        </p:nvCxnSpPr>
        <p:spPr>
          <a:xfrm>
            <a:off x="658368" y="3730752"/>
            <a:ext cx="0" cy="219456"/>
          </a:xfrm>
          <a:prstGeom prst="straightConnector1">
            <a:avLst/>
          </a:prstGeom>
          <a:noFill/>
          <a:ln w="19050" cap="flat" cmpd="sng">
            <a:solidFill>
              <a:srgbClr val="FDEBC0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7" name="Google Shape;137;p7"/>
          <p:cNvSpPr/>
          <p:nvPr/>
        </p:nvSpPr>
        <p:spPr>
          <a:xfrm>
            <a:off x="457200" y="3877056"/>
            <a:ext cx="402336" cy="402336"/>
          </a:xfrm>
          <a:prstGeom prst="ellipse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457200" y="387705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Georgia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1005840" y="3858768"/>
            <a:ext cx="75895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Bài ôn quay lại đúng lúc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1005840" y="4114800"/>
            <a:ext cx="758952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1150"/>
              <a:buFont typeface="Calibri"/>
              <a:buNone/>
            </a:pPr>
            <a:r>
              <a:rPr lang="en-US" sz="1150" b="0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Kiến thức trở thành phản xạ tự nhiên qua ôn tập thông minh.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457200" y="4617720"/>
            <a:ext cx="8138160" cy="320040"/>
          </a:xfrm>
          <a:prstGeom prst="rect">
            <a:avLst/>
          </a:prstGeom>
          <a:solidFill>
            <a:srgbClr val="FEF6E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457200" y="4617720"/>
            <a:ext cx="54864" cy="320040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640080" y="4617720"/>
            <a:ext cx="7909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00"/>
              <a:buFont typeface="Georgia"/>
              <a:buNone/>
            </a:pPr>
            <a:r>
              <a:rPr lang="en-US" sz="110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"Mỗi buổi học đều nối tiếp buổi trước — như có người thật đang theo dõi hành trình của bạn."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208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/>
          <p:nvPr/>
        </p:nvSpPr>
        <p:spPr>
          <a:xfrm>
            <a:off x="7772400" y="2926080"/>
            <a:ext cx="2926080" cy="2926080"/>
          </a:xfrm>
          <a:prstGeom prst="ellipse">
            <a:avLst/>
          </a:prstGeom>
          <a:solidFill>
            <a:srgbClr val="F5A623">
              <a:alpha val="10196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-731520" y="-731520"/>
            <a:ext cx="2560320" cy="2560320"/>
          </a:xfrm>
          <a:prstGeom prst="ellipse">
            <a:avLst/>
          </a:prstGeom>
          <a:solidFill>
            <a:srgbClr val="FDEBC0">
              <a:alpha val="7843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457200" y="347472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FFFFFF">
              <a:alpha val="12156"/>
            </a:srgbClr>
          </a:solidFill>
          <a:ln w="12700" cap="flat" cmpd="sng">
            <a:solidFill>
              <a:srgbClr val="F5D98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457200" y="34747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D98E"/>
              </a:buClr>
              <a:buSzPts val="750"/>
              <a:buFont typeface="Calibri"/>
              <a:buNone/>
            </a:pPr>
            <a:r>
              <a:rPr lang="en-US" sz="750" b="1" i="0" u="none" strike="noStrike" cap="none">
                <a:solidFill>
                  <a:srgbClr val="F5D98E"/>
                </a:solidFill>
                <a:latin typeface="Calibri"/>
                <a:ea typeface="Calibri"/>
                <a:cs typeface="Calibri"/>
                <a:sym typeface="Calibri"/>
              </a:rPr>
              <a:t>CÔNG NGHỆ ĐỨNG PHÍA SAU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Ba lớp tạo nên một hệ thống học</a:t>
            </a:r>
            <a:br>
              <a:rPr lang="en-US" sz="3000" b="1" i="0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F5A623"/>
                </a:solidFill>
                <a:latin typeface="Georgia"/>
                <a:ea typeface="Georgia"/>
                <a:cs typeface="Georgia"/>
                <a:sym typeface="Georgia"/>
              </a:rPr>
              <a:t>có trí nhớ.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57200" y="1920240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457200" y="2103120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457200" y="2103120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8"/>
          <p:cNvSpPr/>
          <p:nvPr/>
        </p:nvSpPr>
        <p:spPr>
          <a:xfrm>
            <a:off x="594360" y="2103120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234440" y="2157984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AI Hội Thoại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234440" y="2432304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Người học luyện trong ngữ cảnh thật — không phải câu hỏi trắc nghiệm cứng nhắc. Phản hồi đúng trình độ, đúng mục tiêu.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457200" y="2990088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"/>
          <p:cNvSpPr/>
          <p:nvPr/>
        </p:nvSpPr>
        <p:spPr>
          <a:xfrm>
            <a:off x="457200" y="2990088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594360" y="2990088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1234440" y="3044952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Bộ Nhớ Học Tập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234440" y="3319272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Hệ thống nhớ người học đã học gì, thường sai ở đâu — dài hạn và liên tục qua từng phiên học.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457200" y="3877056"/>
            <a:ext cx="8229600" cy="749808"/>
          </a:xfrm>
          <a:prstGeom prst="rect">
            <a:avLst/>
          </a:prstGeom>
          <a:solidFill>
            <a:srgbClr val="FFFFFF">
              <a:alpha val="7058"/>
            </a:srgbClr>
          </a:solidFill>
          <a:ln w="12700" cap="flat" cmpd="sng">
            <a:solidFill>
              <a:srgbClr val="F5A623">
                <a:alpha val="30196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57200" y="3877056"/>
            <a:ext cx="54864" cy="749808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594360" y="3877056"/>
            <a:ext cx="54864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🔁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234440" y="3931920"/>
            <a:ext cx="72237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Cơ Chế Ôn Tập Thông Minh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234440" y="4206240"/>
            <a:ext cx="7223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B87A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C9B87A"/>
                </a:solidFill>
                <a:latin typeface="Calibri"/>
                <a:ea typeface="Calibri"/>
                <a:cs typeface="Calibri"/>
                <a:sym typeface="Calibri"/>
              </a:rPr>
              <a:t>Đưa đúng nội dung về đúng lúc. Không random, không cứng nhắc theo lịch — dựa trên dữ liệu cá nhân.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457200" y="4663440"/>
            <a:ext cx="8138160" cy="292608"/>
          </a:xfrm>
          <a:prstGeom prst="rect">
            <a:avLst/>
          </a:prstGeom>
          <a:solidFill>
            <a:srgbClr val="F5A623">
              <a:alpha val="12156"/>
            </a:srgbClr>
          </a:solidFill>
          <a:ln w="12700" cap="flat" cmpd="sng">
            <a:solidFill>
              <a:srgbClr val="F5D98E">
                <a:alpha val="400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594360" y="4663440"/>
            <a:ext cx="795528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050"/>
              <a:buFont typeface="Georgia"/>
              <a:buNone/>
            </a:pPr>
            <a:r>
              <a:rPr lang="en-US" sz="1050" b="0" i="1" u="none" strike="noStrike" cap="none">
                <a:solidFill>
                  <a:srgbClr val="FFE899"/>
                </a:solidFill>
                <a:latin typeface="Georgia"/>
                <a:ea typeface="Georgia"/>
                <a:cs typeface="Georgia"/>
                <a:sym typeface="Georgia"/>
              </a:rPr>
              <a:t>"Công nghệ không phải mục tiêu. Công nghệ chỉ là cách để biến việc học rời rạc thành một hệ thống học có trí nhớ."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E0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FDEBC0">
              <a:alpha val="65098"/>
            </a:srgbClr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457200" y="34747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57200" y="347472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KẾT QUẢ KỲ VỌNG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57200" y="749808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Ít phân mảnh. Nhớ lâu hơn.</a:t>
            </a:r>
            <a:br>
              <a:rPr lang="en-US" sz="3000" b="1" i="0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3000" b="1" i="0" u="none" strike="noStrike" cap="none">
                <a:solidFill>
                  <a:srgbClr val="C07A00"/>
                </a:solidFill>
                <a:latin typeface="Georgia"/>
                <a:ea typeface="Georgia"/>
                <a:cs typeface="Georgia"/>
                <a:sym typeface="Georgia"/>
              </a:rPr>
              <a:t>Tiến bộ đều hơn.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1938528"/>
            <a:ext cx="502920" cy="54864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457200" y="21031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VỚI NGƯỜI HỌC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57200" y="24414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566928" y="24414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😌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1051560" y="24414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Giảm cảm giác học mãi mà không lên.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57200" y="31272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566928" y="31272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51560" y="31272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Tăng khả năng nhớ và dùng trong tình huống thật.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57200" y="38130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566928" y="38130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🗓️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1051560" y="38130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Lộ trình học liên tục, không phải phiên rời rạc.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754880" y="2103120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A5C1E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7A5C1E"/>
                </a:solidFill>
                <a:latin typeface="Calibri"/>
                <a:ea typeface="Calibri"/>
                <a:cs typeface="Calibri"/>
                <a:sym typeface="Calibri"/>
              </a:rPr>
              <a:t>VỚI SẢN PHẨM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754880" y="24414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"/>
          <p:cNvSpPr/>
          <p:nvPr/>
        </p:nvSpPr>
        <p:spPr>
          <a:xfrm>
            <a:off x="4864608" y="24414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5349240" y="24414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Tăng giữ chân vì người dùng thấy có tiếp nối.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754880" y="31272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864608" y="31272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🏆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5349240" y="31272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Khác biệt rõ so với chatbot học tiếng Anh thường.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754880" y="3813048"/>
            <a:ext cx="3931920" cy="566928"/>
          </a:xfrm>
          <a:prstGeom prst="rect">
            <a:avLst/>
          </a:prstGeom>
          <a:solidFill>
            <a:srgbClr val="FDEBC0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864608" y="3813048"/>
            <a:ext cx="4114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Calibri"/>
              <a:buNone/>
            </a:pPr>
            <a:r>
              <a:rPr lang="en-US" sz="17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5349240" y="3813048"/>
            <a:ext cx="32461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Mở đường cho premium: coaching theo nghề nghiệp.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FDEB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57200" y="4617720"/>
            <a:ext cx="54864" cy="347472"/>
          </a:xfrm>
          <a:prstGeom prst="rect">
            <a:avLst/>
          </a:prstGeom>
          <a:solidFill>
            <a:srgbClr val="F5A623"/>
          </a:solidFill>
          <a:ln w="12700" cap="flat" cmpd="sng">
            <a:solidFill>
              <a:srgbClr val="F5A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640080" y="4617720"/>
            <a:ext cx="79095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150"/>
              <a:buFont typeface="Georgia"/>
              <a:buNone/>
            </a:pPr>
            <a:r>
              <a:rPr lang="en-US" sz="1150" b="0" i="1" u="none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"Chúng tôi không chỉ xây một app học tiếng Anh. Chúng tôi đang xây một hệ thống học tập biết nhớ."</a:t>
            </a:r>
            <a:endParaRPr sz="1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07A00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C07A00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A623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>
            <a:off x="6400800" y="-1371600"/>
            <a:ext cx="5029200" cy="5029200"/>
          </a:xfrm>
          <a:prstGeom prst="ellipse">
            <a:avLst/>
          </a:prstGeom>
          <a:solidFill>
            <a:srgbClr val="FFFFFF">
              <a:alpha val="18039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00000">
              <a:alpha val="9019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2286000" y="292608"/>
            <a:ext cx="4572000" cy="274320"/>
          </a:xfrm>
          <a:prstGeom prst="roundRect">
            <a:avLst>
              <a:gd name="adj" fmla="val 50000"/>
            </a:avLst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2286000" y="29260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800"/>
              <a:buFont typeface="Calibri"/>
              <a:buNone/>
            </a:pPr>
            <a:r>
              <a:rPr lang="en-US" sz="8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TỪ CHATBOT → GIA SƯ THẬT SỰ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457200" y="713232"/>
            <a:ext cx="822960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2800"/>
              <a:buFont typeface="Georgia"/>
              <a:buNone/>
            </a:pP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Thị trường thiếu một trải nghiệm học</a:t>
            </a:r>
            <a:b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</a:br>
            <a:r>
              <a:rPr lang="en-US" sz="2800" b="1" i="0" strike="noStrike" cap="none">
                <a:solidFill>
                  <a:srgbClr val="1C1208"/>
                </a:solidFill>
                <a:latin typeface="Georgia"/>
                <a:ea typeface="Georgia"/>
                <a:cs typeface="Georgia"/>
                <a:sym typeface="Georgia"/>
              </a:rPr>
              <a:t>có thể nhớ, theo dõi và dạy tiếp.</a:t>
            </a:r>
            <a:endParaRPr sz="2800" b="0" i="0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114800" y="1993392"/>
            <a:ext cx="914400" cy="54864"/>
          </a:xfrm>
          <a:prstGeom prst="rect">
            <a:avLst/>
          </a:prstGeom>
          <a:solidFill>
            <a:srgbClr val="1C1208">
              <a:alpha val="60000"/>
            </a:srgbClr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914400" y="2103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3B2800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3B2800"/>
                </a:solidFill>
                <a:latin typeface="Calibri"/>
                <a:ea typeface="Calibri"/>
                <a:cs typeface="Calibri"/>
                <a:sym typeface="Calibri"/>
              </a:rPr>
              <a:t>Đó là khoảng trống mà sản phẩm này đang nhắm tới.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457200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594360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PAIN THẬT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594360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Bắt đầu từ một nỗi đau cụ thể mà hàng triệu người đang gặp mỗi ngày.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3355848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"/>
          <p:cNvSpPr/>
          <p:nvPr/>
        </p:nvSpPr>
        <p:spPr>
          <a:xfrm>
            <a:off x="3493008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TRẢI NGHIỆM RÕ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3493008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Giải bằng một vòng học đơn giản, dễ hiểu, không cần thêm nỗ lực.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6254496" y="2670048"/>
            <a:ext cx="2651760" cy="1783080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0"/>
          <p:cNvSpPr/>
          <p:nvPr/>
        </p:nvSpPr>
        <p:spPr>
          <a:xfrm>
            <a:off x="6391656" y="2788920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KẾT QUẢ BỀN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6391656" y="3090672"/>
            <a:ext cx="237744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E89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FFE899"/>
                </a:solidFill>
                <a:latin typeface="Calibri"/>
                <a:ea typeface="Calibri"/>
                <a:cs typeface="Calibri"/>
                <a:sym typeface="Calibri"/>
              </a:rPr>
              <a:t>Dùng công nghệ để tạo ra tiến bộ học tập thật sự, không chỉ vui vẻ.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solidFill>
            <a:srgbClr val="1C1208"/>
          </a:solidFill>
          <a:ln w="12700" cap="flat" cmpd="sng">
            <a:solidFill>
              <a:srgbClr val="1C120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57200" y="4617720"/>
            <a:ext cx="8138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5A623"/>
              </a:buClr>
              <a:buSzPts val="1050"/>
              <a:buFont typeface="Calibri"/>
              <a:buNone/>
            </a:pPr>
            <a:r>
              <a:rPr lang="en-US" sz="1500" b="0" i="0" u="none" strike="noStrike" cap="none">
                <a:solidFill>
                  <a:srgbClr val="F5A623"/>
                </a:solidFill>
                <a:latin typeface="Calibri"/>
                <a:ea typeface="Calibri"/>
                <a:cs typeface="Calibri"/>
                <a:sym typeface="Calibri"/>
              </a:rPr>
              <a:t>English Tutor AI  ·  Pitch Deck  2025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8503920" y="4663440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C120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C1208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1006</Words>
  <Application>Microsoft Office PowerPoint</Application>
  <PresentationFormat>On-screen Show (16:9)</PresentationFormat>
  <Paragraphs>128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quang nguyễn</cp:lastModifiedBy>
  <cp:revision>2</cp:revision>
  <dcterms:modified xsi:type="dcterms:W3CDTF">2026-05-16T14:07:31Z</dcterms:modified>
</cp:coreProperties>
</file>